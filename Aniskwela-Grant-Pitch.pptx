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66" r:id="rId4"/>
    <p:sldId id="258" r:id="rId5"/>
    <p:sldId id="259" r:id="rId6"/>
    <p:sldId id="260" r:id="rId7"/>
    <p:sldId id="261" r:id="rId8"/>
    <p:sldId id="262" r:id="rId9"/>
    <p:sldId id="263" r:id="rId10"/>
    <p:sldId id="264" r:id="rId11"/>
    <p:sldId id="265"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p:scale>
          <a:sx n="75" d="100"/>
          <a:sy n="75" d="100"/>
        </p:scale>
        <p:origin x="946" y="43"/>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748484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Good morning. We are Team Axon Enjin, and this is Aniskwela.</a:t>
            </a:r>
          </a:p>
          <a:p>
            <a:endParaRPr/>
          </a:p>
          <a:p>
            <a:r>
              <a:t>The name comes from two Filipino words: ani, harvest, and eskwela, school. We built it for Filipino farmers and rural learners who study on shared phones and prepaid data.</a:t>
            </a:r>
          </a:p>
          <a:p>
            <a:endParaRPr/>
          </a:p>
          <a:p>
            <a:r>
              <a:t>Aniskwela turns raw teaching materials into structured courses, helps learners build a visible record of effort, and issues credentials that funders can verify without taking anyone's word for it.</a:t>
            </a:r>
          </a:p>
          <a:p>
            <a:endParaRPr/>
          </a:p>
          <a:p>
            <a:r>
              <a:t>Today we want to show you why that matters for the programs you run, what we have built so far, and what a partnership could look like.</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Let me start with Maricel. She is twenty-two, lives in a rural part of Region IV, and shares a one-gigabyte Android phone with her family. She wants to learn agriculture and basic financial literacy, but the platforms she finds were not built for her life.</a:t>
            </a:r>
          </a:p>
          <a:p>
            <a:endParaRPr/>
          </a:p>
          <a:p>
            <a:r>
              <a:t>The courses are mostly in English. They assume fast Wi-Fi. When she finishes something, she has nothing credible to show an employer or a grant officer.</a:t>
            </a:r>
          </a:p>
          <a:p>
            <a:endParaRPr/>
          </a:p>
          <a:p>
            <a:r>
              <a:t>Teachers face the opposite problem. Ramon is an agricultural extension worker. He knows the subject, but building an online course takes tools and time he does not have.</a:t>
            </a:r>
          </a:p>
          <a:p>
            <a:endParaRPr/>
          </a:p>
          <a:p>
            <a:r>
              <a:t>Funders like you see the third gap. Divina runs a foundation program. She wants to reward consistent learners, but she cannot target grants transparently and she cannot audit outcomes without manual paperwork.</a:t>
            </a:r>
          </a:p>
          <a:p>
            <a:endParaRPr/>
          </a:p>
          <a:p>
            <a:r>
              <a:t>Existing tools either gamify rewards without real learning, or they offer credentials that are easy to fake. Neither side gets trust.</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Before we show the product, let me quantify the opportunity.</a:t>
            </a:r>
          </a:p>
          <a:p>
            <a:endParaRPr/>
          </a:p>
          <a:p>
            <a:r>
              <a:t>The Registry System for Basic Sectors in Agriculture lists ten point seven million agricultural workers—nearly seven million farmers, two point seven million fisherfolk, plus farm workers and farm youth. Agriculture still employs about one in five Filipino workers according to PSA.</a:t>
            </a:r>
          </a:p>
          <a:p>
            <a:endParaRPr/>
          </a:p>
          <a:p>
            <a:r>
              <a:t>At the same time, ninety-eight million Filipinos are online—eighty-four percent penetration—and most mobile connections run on 3G, 4G, or 5G. That is why we built for prepaid data and shared phones, not campus Wi-Fi.</a:t>
            </a:r>
          </a:p>
          <a:p>
            <a:endParaRPr/>
          </a:p>
          <a:p>
            <a:r>
              <a:t>Public money for skills training already exists. TESDA spent roughly sixteen billion pesos on free tech-voc in twenty twenty-five, but fewer than one quarter of graduates went through scholarship vouchers. The funding pool is there; what is missing is transparent, merit-based targeting for rural farmers.</a:t>
            </a:r>
          </a:p>
          <a:p>
            <a:endParaRPr/>
          </a:p>
          <a:p>
            <a:r>
              <a:t>Our ninety-day wedge is modest: fifty courses, five hundred learners, one simulated grant program, and ten extension teachers through a partner network. That is what we are asking you to help us pilot.</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Aniskwela addresses all three sides with one platform.</a:t>
            </a:r>
          </a:p>
          <a:p>
            <a:endParaRPr/>
          </a:p>
          <a:p>
            <a:r>
              <a:t>First, teachers upload a PDF or document and our AI pipeline drafts a structured course. Nothing goes live until a teacher reviews it. We do not auto-publish.</a:t>
            </a:r>
          </a:p>
          <a:p>
            <a:endParaRPr/>
          </a:p>
          <a:p>
            <a:r>
              <a:t>Second, learners study on a low-resource interface tuned for 3G and Filipino. Progress shows up as XP and levels, from Seed to Mentor. That record is cumulative. We do not burn or spend XP like a casino game.</a:t>
            </a:r>
          </a:p>
          <a:p>
            <a:endParaRPr/>
          </a:p>
          <a:p>
            <a:r>
              <a:t>Third, when a learner passes a course, we issue a W3C Verifiable Credential in the Open Badges 3.0 profile. Only a hash of that credential goes on Stellar. No personal data on the chain.</a:t>
            </a:r>
          </a:p>
          <a:p>
            <a:endParaRPr/>
          </a:p>
          <a:p>
            <a:r>
              <a:t>Fourth, funders define eligibility against the merit ledger. Aniskwela decides who qualifies. A licensed VASP moves money. We stay on the right side of regulation.</a:t>
            </a:r>
          </a:p>
          <a:p>
            <a:endParaRPr/>
          </a:p>
          <a:p>
            <a:r>
              <a:t>The engine can serve other subjects later, but we are farmer-first because that is where the need and our team's story align.</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what a learner sees today. We already ship a course catalog and lesson reader that load quickly on a typical Philippine phone screen.</a:t>
            </a:r>
          </a:p>
          <a:p>
            <a:endParaRPr/>
          </a:p>
          <a:p>
            <a:r>
              <a:t>The shared initial JavaScript bundle measures about one hundred seventy-four kilobytes gzipped, under our two hundred twenty kilobyte budget. Content is cached on the server so learners are not waiting on AI when they open a lesson.</a:t>
            </a:r>
          </a:p>
          <a:p>
            <a:endParaRPr/>
          </a:p>
          <a:p>
            <a:r>
              <a:t>Language toggles between English and Filipino without a full page reload. That matters when someone reads faster in Filipino but still wants English for certain terms.</a:t>
            </a:r>
          </a:p>
          <a:p>
            <a:endParaRPr/>
          </a:p>
          <a:p>
            <a:r>
              <a:t>What is live now: browsing published courses, reading lessons, switching language.</a:t>
            </a:r>
          </a:p>
          <a:p>
            <a:endParaRPr/>
          </a:p>
          <a:p>
            <a:r>
              <a:t>What is on the roadmap for this surface: interactive quizzes, XP and streak display, enrollments, and the credential wallet.</a:t>
            </a:r>
          </a:p>
          <a:p>
            <a:endParaRPr/>
          </a:p>
          <a:p>
            <a:r>
              <a:t>We label that honestly so you know what you can click today versus what we are building next.</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On the teacher side, the flow that works today is upload, generate, review, and publish.</a:t>
            </a:r>
          </a:p>
          <a:p>
            <a:endParaRPr/>
          </a:p>
          <a:p>
            <a:r>
              <a:t>A teacher signs in, uploads a PDF, and the server extracts text and calls Azure AI Foundry once per course. The model returns modules, lessons, and quiz questions. If the JSON fails validation, a smaller model tries one repair pass. If that still fails, we return an error. We never save garbage.</a:t>
            </a:r>
          </a:p>
          <a:p>
            <a:endParaRPr/>
          </a:p>
          <a:p>
            <a:r>
              <a:t>The teacher sees the draft in their dashboard and publishes when ready. Published courses appear in the public catalog.</a:t>
            </a:r>
          </a:p>
          <a:p>
            <a:endParaRPr/>
          </a:p>
          <a:p>
            <a:r>
              <a:t>The funder dashboard is not built yet, but the database already has grant program tables with a simulated flag. The design lets a program officer set criteria like agriculture learners above a certain XP threshold, preview the eligible list, and run a labelled simulation with an exportable audit trail. Real disbursement always routes through a licensed partner.</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 is the end-to-end story we are completing.</a:t>
            </a:r>
          </a:p>
          <a:p>
            <a:endParaRPr/>
          </a:p>
          <a:p>
            <a:r>
              <a:t>Step one: a teacher uploads source material.</a:t>
            </a:r>
          </a:p>
          <a:p>
            <a:endParaRPr/>
          </a:p>
          <a:p>
            <a:r>
              <a:t>Step two: Azure AI Foundry generates a structured draft. AI runs once per course, not on every page view.</a:t>
            </a:r>
          </a:p>
          <a:p>
            <a:endParaRPr/>
          </a:p>
          <a:p>
            <a:r>
              <a:t>Step three: the teacher edits if needed and publishes.</a:t>
            </a:r>
          </a:p>
          <a:p>
            <a:endParaRPr/>
          </a:p>
          <a:p>
            <a:r>
              <a:t>Step four: a learner studies lessons and takes assessments. We record completion in the merit ledger.</a:t>
            </a:r>
          </a:p>
          <a:p>
            <a:endParaRPr/>
          </a:p>
          <a:p>
            <a:r>
              <a:t>Step five: on pass, the platform issues a verifiable credential and signs it with our issuer key.</a:t>
            </a:r>
          </a:p>
          <a:p>
            <a:endParaRPr/>
          </a:p>
          <a:p>
            <a:r>
              <a:t>Step six: we anchor only the credential hash in a Stellar transaction. Anyone can verify the link between the credential and the chain entry without seeing private learner data on ledger.</a:t>
            </a:r>
          </a:p>
          <a:p>
            <a:endParaRPr/>
          </a:p>
          <a:p>
            <a:r>
              <a:t>If Testnet is down during a demo, we fall back to a clearly labelled mock anchor so learning never blocks on infrastructure.</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is about trust without hype.</a:t>
            </a:r>
          </a:p>
          <a:p>
            <a:endParaRPr/>
          </a:p>
          <a:p>
            <a:r>
              <a:t>The merit ledger is an append-only record of positive events: lesson completed, quiz passed, badge earned. XP never goes negative and never gets spent. Funders read that ledger when they ask who stayed consistent.</a:t>
            </a:r>
          </a:p>
          <a:p>
            <a:endParaRPr/>
          </a:p>
          <a:p>
            <a:r>
              <a:t>Credentials follow open standards, not a proprietary badge NFT. Employers and other institutions can verify them with tools they already trust.</a:t>
            </a:r>
          </a:p>
          <a:p>
            <a:endParaRPr/>
          </a:p>
          <a:p>
            <a:r>
              <a:t>On-chain, we store a hash. That proves the credential existed at issuance time and was not altered afterward. We do not put names, emails, or grades in the memo.</a:t>
            </a:r>
          </a:p>
          <a:p>
            <a:endParaRPr/>
          </a:p>
          <a:p>
            <a:r>
              <a:t>A public verifier page, no login required, will let anyone scan a QR or open a link and see valid or invalid with course, date, and score. That piece is specified and schema-ready; we are building it in the next sprint.</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slide most relevant to your work.</a:t>
            </a:r>
          </a:p>
          <a:p>
            <a:endParaRPr/>
          </a:p>
          <a:p>
            <a:r>
              <a:t>Aniskwela is not a money transmitter. We do not move pesos inside the app. We tell you who meets the criteria you set. Your licensed VASP or e-money partner executes payout.</a:t>
            </a:r>
          </a:p>
          <a:p>
            <a:endParaRPr/>
          </a:p>
          <a:p>
            <a:r>
              <a:t>In the MVP, disbursement is a simulation. Every screen and export says so clearly. That lets you pilot policy, report to donors, and train staff before real funds flow.</a:t>
            </a:r>
          </a:p>
          <a:p>
            <a:endParaRPr/>
          </a:p>
          <a:p>
            <a:r>
              <a:t>You might fund learners who completed an agriculture track, held a thirty-day streak, and earned a specific badge. The platform returns a list backed by ledger data, not self-reported forms.</a:t>
            </a:r>
          </a:p>
          <a:p>
            <a:endParaRPr/>
          </a:p>
          <a:p>
            <a:r>
              <a:t>For compliance, we lean on row-level security in Postgres, server-side eligibility checks, and exportable audit logs. CLR work covers privacy and trademark next steps.</a:t>
            </a:r>
          </a:p>
          <a:p>
            <a:endParaRPr/>
          </a:p>
          <a:p>
            <a:r>
              <a:t>We are looking for one foundation or agency partner willing to co-design the first pilot program criteria.</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Under the hood we use a stack chosen for speed, cost, and honesty about constraints.</a:t>
            </a:r>
          </a:p>
          <a:p>
            <a:endParaRPr/>
          </a:p>
          <a:p>
            <a:r>
              <a:t>The app is Next.js sixteen on Vercel. Auth, database, and storage run on Supabase with row-level security on every table. Teachers only see their drafts; learners only see their own progress rows when those flows ship.</a:t>
            </a:r>
          </a:p>
          <a:p>
            <a:endParaRPr/>
          </a:p>
          <a:p>
            <a:r>
              <a:t>AI goes through Azure AI Foundry with GPT five point four for course generation and the mini model for cheap repair tasks. Managed Identity in production, API key only for local development.</a:t>
            </a:r>
          </a:p>
          <a:p>
            <a:endParaRPr/>
          </a:p>
          <a:p>
            <a:r>
              <a:t>The initial migration defines nine tables: profiles, courses, lessons, quiz questions, enrollments, merit ledger, badges, credentials, and grant programs. Several are wired in schema today and waiting for application code.</a:t>
            </a:r>
          </a:p>
          <a:p>
            <a:endParaRPr/>
          </a:p>
          <a:p>
            <a:r>
              <a:t>Performance is a requirement, not a nice-to-have. Light theme, system fonts, no web font download on first paint, images capped at eighty kilobytes WebP where we use them.</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 are not asking you to fund a slide deck. We are asking for a conversation about a pilot.</a:t>
            </a:r>
          </a:p>
          <a:p>
            <a:endParaRPr/>
          </a:p>
          <a:p>
            <a:r>
              <a:t>Help us define real eligibility rules for farmers in your network. Point us to ten teachers who can upload extension materials. Give us feedback when the verifier and funder console land in the next build weeks.</a:t>
            </a:r>
          </a:p>
          <a:p>
            <a:endParaRPr/>
          </a:p>
          <a:p>
            <a:r>
              <a:t>Success for us in the next ninety days looks like fifty published courses, five hundred registered learners, and at least one simulated grant program run with a partner who exports an audit report they would actually show a donor.</a:t>
            </a:r>
          </a:p>
          <a:p>
            <a:endParaRPr/>
          </a:p>
          <a:p>
            <a:r>
              <a:t>Scan the QR or open the link to try the live teacher and catalog flows. Talk to us after about co-designing the first grant criteria.</a:t>
            </a:r>
          </a:p>
          <a:p>
            <a:endParaRPr/>
          </a:p>
          <a:p>
            <a:r>
              <a:t>Thank you. We are Carlos, Rhandie, and Aidan from Team Axon Enjin. Aniskwela: learn, earn credentials you can prove, and grow.</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6/26/2026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6/26/2026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6/26/2026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6/26/2026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BF8F2"/>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3F8E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85800" y="1463040"/>
            <a:ext cx="10058400" cy="1097280"/>
          </a:xfrm>
          <a:prstGeom prst="rect">
            <a:avLst/>
          </a:prstGeom>
          <a:noFill/>
        </p:spPr>
        <p:txBody>
          <a:bodyPr wrap="square" anchor="t">
            <a:spAutoFit/>
          </a:bodyPr>
          <a:lstStyle/>
          <a:p>
            <a:pPr algn="l"/>
            <a:r>
              <a:rPr sz="5400" b="1">
                <a:solidFill>
                  <a:srgbClr val="6B4F3A"/>
                </a:solidFill>
                <a:latin typeface="Segoe UI"/>
              </a:rPr>
              <a:t>Aniskwela</a:t>
            </a:r>
          </a:p>
        </p:txBody>
      </p:sp>
      <p:sp>
        <p:nvSpPr>
          <p:cNvPr id="4" name="TextBox 3"/>
          <p:cNvSpPr txBox="1"/>
          <p:nvPr/>
        </p:nvSpPr>
        <p:spPr>
          <a:xfrm>
            <a:off x="685800" y="2514600"/>
            <a:ext cx="10058400" cy="731520"/>
          </a:xfrm>
          <a:prstGeom prst="rect">
            <a:avLst/>
          </a:prstGeom>
          <a:noFill/>
        </p:spPr>
        <p:txBody>
          <a:bodyPr wrap="square" anchor="t">
            <a:spAutoFit/>
          </a:bodyPr>
          <a:lstStyle/>
          <a:p>
            <a:pPr algn="l"/>
            <a:r>
              <a:rPr sz="2200" b="0">
                <a:solidFill>
                  <a:srgbClr val="241F1A"/>
                </a:solidFill>
                <a:latin typeface="Segoe UI"/>
              </a:rPr>
              <a:t>Your learning grows like a field. Slowly, visibly, and it stays yours.</a:t>
            </a:r>
          </a:p>
        </p:txBody>
      </p:sp>
      <p:sp>
        <p:nvSpPr>
          <p:cNvPr id="5" name="TextBox 4"/>
          <p:cNvSpPr txBox="1"/>
          <p:nvPr/>
        </p:nvSpPr>
        <p:spPr>
          <a:xfrm>
            <a:off x="685800" y="3337560"/>
            <a:ext cx="10058400" cy="457200"/>
          </a:xfrm>
          <a:prstGeom prst="rect">
            <a:avLst/>
          </a:prstGeom>
          <a:noFill/>
        </p:spPr>
        <p:txBody>
          <a:bodyPr wrap="square" anchor="t">
            <a:spAutoFit/>
          </a:bodyPr>
          <a:lstStyle/>
          <a:p>
            <a:pPr algn="l"/>
            <a:r>
              <a:rPr sz="1600" b="0">
                <a:solidFill>
                  <a:srgbClr val="6E665B"/>
                </a:solidFill>
                <a:latin typeface="Segoe UI"/>
              </a:rPr>
              <a:t>AI education with verifiable credentials for Filipino farmers</a:t>
            </a:r>
          </a:p>
        </p:txBody>
      </p:sp>
      <p:sp>
        <p:nvSpPr>
          <p:cNvPr id="7" name="TextBox 6"/>
          <p:cNvSpPr txBox="1"/>
          <p:nvPr/>
        </p:nvSpPr>
        <p:spPr>
          <a:xfrm>
            <a:off x="685800" y="4892040"/>
            <a:ext cx="10058400" cy="365760"/>
          </a:xfrm>
          <a:prstGeom prst="rect">
            <a:avLst/>
          </a:prstGeom>
          <a:noFill/>
        </p:spPr>
        <p:txBody>
          <a:bodyPr wrap="square" anchor="t">
            <a:spAutoFit/>
          </a:bodyPr>
          <a:lstStyle/>
          <a:p>
            <a:pPr algn="l"/>
            <a:r>
              <a:rPr sz="1200" b="1">
                <a:solidFill>
                  <a:srgbClr val="3F8E5B"/>
                </a:solidFill>
                <a:latin typeface="Segoe UI"/>
              </a:rPr>
              <a:t>TEAM AXON ENJIN</a:t>
            </a:r>
          </a:p>
        </p:txBody>
      </p:sp>
      <p:sp>
        <p:nvSpPr>
          <p:cNvPr id="8" name="TextBox 7"/>
          <p:cNvSpPr txBox="1"/>
          <p:nvPr/>
        </p:nvSpPr>
        <p:spPr>
          <a:xfrm>
            <a:off x="685800" y="5257800"/>
            <a:ext cx="10058400" cy="307777"/>
          </a:xfrm>
          <a:prstGeom prst="rect">
            <a:avLst/>
          </a:prstGeom>
          <a:noFill/>
        </p:spPr>
        <p:txBody>
          <a:bodyPr wrap="square" anchor="t">
            <a:spAutoFit/>
          </a:bodyPr>
          <a:lstStyle/>
          <a:p>
            <a:r>
              <a:rPr sz="1400" b="0" dirty="0">
                <a:solidFill>
                  <a:srgbClr val="241F1A"/>
                </a:solidFill>
                <a:latin typeface="Segoe UI"/>
              </a:rPr>
              <a:t>Carlos Jerico Dela Torre  ·  Rhandie Sales Jr.  ·  Aidan Tiu</a:t>
            </a:r>
            <a:r>
              <a:rPr lang="en-PH" sz="1400" dirty="0">
                <a:solidFill>
                  <a:srgbClr val="241F1A"/>
                </a:solidFill>
                <a:latin typeface="Segoe UI"/>
              </a:rPr>
              <a:t> ·  Gerald </a:t>
            </a:r>
            <a:r>
              <a:rPr lang="en-PH" sz="1400" dirty="0" err="1">
                <a:solidFill>
                  <a:srgbClr val="241F1A"/>
                </a:solidFill>
                <a:latin typeface="Segoe UI"/>
              </a:rPr>
              <a:t>Berongoy</a:t>
            </a:r>
            <a:endParaRPr sz="1400" b="0" dirty="0">
              <a:solidFill>
                <a:srgbClr val="241F1A"/>
              </a:solidFill>
              <a:latin typeface="Segoe UI"/>
            </a:endParaRPr>
          </a:p>
        </p:txBody>
      </p:sp>
      <p:sp>
        <p:nvSpPr>
          <p:cNvPr id="9" name="TextBox 8"/>
          <p:cNvSpPr txBox="1"/>
          <p:nvPr/>
        </p:nvSpPr>
        <p:spPr>
          <a:xfrm>
            <a:off x="548640" y="6446520"/>
            <a:ext cx="4572000" cy="320040"/>
          </a:xfrm>
          <a:prstGeom prst="rect">
            <a:avLst/>
          </a:prstGeom>
          <a:noFill/>
        </p:spPr>
        <p:txBody>
          <a:bodyPr wrap="square" anchor="t">
            <a:spAutoFit/>
          </a:bodyPr>
          <a:lstStyle/>
          <a:p>
            <a:pPr algn="l"/>
            <a:r>
              <a:rPr sz="1000" b="0">
                <a:solidFill>
                  <a:srgbClr val="6E665B"/>
                </a:solidFill>
                <a:latin typeface="Segoe UI"/>
              </a:rPr>
              <a:t>ANISKWELA  ·  Axon Enjin</a:t>
            </a:r>
          </a:p>
        </p:txBody>
      </p:sp>
      <p:sp>
        <p:nvSpPr>
          <p:cNvPr id="10" name="TextBox 9"/>
          <p:cNvSpPr txBox="1"/>
          <p:nvPr/>
        </p:nvSpPr>
        <p:spPr>
          <a:xfrm>
            <a:off x="9601200" y="6446520"/>
            <a:ext cx="2103120" cy="320040"/>
          </a:xfrm>
          <a:prstGeom prst="rect">
            <a:avLst/>
          </a:prstGeom>
          <a:noFill/>
        </p:spPr>
        <p:txBody>
          <a:bodyPr wrap="square" anchor="t">
            <a:spAutoFit/>
          </a:bodyPr>
          <a:lstStyle/>
          <a:p>
            <a:pPr algn="r"/>
            <a:r>
              <a:t>Grant partner deck  ·  1/11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BF8F2"/>
        </a:solidFill>
        <a:effectLst/>
      </p:bgPr>
    </p:bg>
    <p:spTree>
      <p:nvGrpSpPr>
        <p:cNvPr id="1" name=""/>
        <p:cNvGrpSpPr/>
        <p:nvPr/>
      </p:nvGrpSpPr>
      <p:grpSpPr>
        <a:xfrm>
          <a:off x="0" y="0"/>
          <a:ext cx="0" cy="0"/>
          <a:chOff x="0" y="0"/>
          <a:chExt cx="0" cy="0"/>
        </a:xfrm>
      </p:grpSpPr>
      <p:sp>
        <p:nvSpPr>
          <p:cNvPr id="2" name="TextBox 1"/>
          <p:cNvSpPr txBox="1"/>
          <p:nvPr/>
        </p:nvSpPr>
        <p:spPr>
          <a:xfrm>
            <a:off x="685800" y="502920"/>
            <a:ext cx="3657600" cy="320040"/>
          </a:xfrm>
          <a:prstGeom prst="rect">
            <a:avLst/>
          </a:prstGeom>
          <a:noFill/>
        </p:spPr>
        <p:txBody>
          <a:bodyPr wrap="square" anchor="t">
            <a:spAutoFit/>
          </a:bodyPr>
          <a:lstStyle/>
          <a:p>
            <a:pPr algn="l"/>
            <a:r>
              <a:rPr sz="1100" b="1">
                <a:solidFill>
                  <a:srgbClr val="3F8E5B"/>
                </a:solidFill>
                <a:latin typeface="Segoe UI"/>
              </a:rPr>
              <a:t>THE PROBLEM</a:t>
            </a:r>
          </a:p>
        </p:txBody>
      </p:sp>
      <p:sp>
        <p:nvSpPr>
          <p:cNvPr id="3" name="TextBox 2"/>
          <p:cNvSpPr txBox="1"/>
          <p:nvPr/>
        </p:nvSpPr>
        <p:spPr>
          <a:xfrm>
            <a:off x="685800" y="868680"/>
            <a:ext cx="10515600" cy="523220"/>
          </a:xfrm>
          <a:prstGeom prst="rect">
            <a:avLst/>
          </a:prstGeom>
          <a:noFill/>
        </p:spPr>
        <p:txBody>
          <a:bodyPr wrap="square" anchor="t">
            <a:spAutoFit/>
          </a:bodyPr>
          <a:lstStyle/>
          <a:p>
            <a:pPr algn="l"/>
            <a:r>
              <a:rPr sz="2800" b="1" dirty="0">
                <a:solidFill>
                  <a:srgbClr val="6B4F3A"/>
                </a:solidFill>
                <a:latin typeface="Segoe UI"/>
              </a:rPr>
              <a:t>Rural learners lack proof, access, and a fair path to funding.</a:t>
            </a:r>
          </a:p>
        </p:txBody>
      </p:sp>
      <p:sp>
        <p:nvSpPr>
          <p:cNvPr id="4" name="TextBox 3"/>
          <p:cNvSpPr txBox="1"/>
          <p:nvPr/>
        </p:nvSpPr>
        <p:spPr>
          <a:xfrm>
            <a:off x="685799" y="1600200"/>
            <a:ext cx="11181735" cy="338554"/>
          </a:xfrm>
          <a:prstGeom prst="rect">
            <a:avLst/>
          </a:prstGeom>
          <a:noFill/>
        </p:spPr>
        <p:txBody>
          <a:bodyPr wrap="square" anchor="t">
            <a:spAutoFit/>
          </a:bodyPr>
          <a:lstStyle/>
          <a:p>
            <a:pPr algn="l"/>
            <a:r>
              <a:rPr sz="1600" b="0" dirty="0">
                <a:solidFill>
                  <a:srgbClr val="6E665B"/>
                </a:solidFill>
                <a:latin typeface="Segoe UI"/>
              </a:rPr>
              <a:t>Courses assume fast Wi-Fi and English fluency. Funders cannot target or audit merit-based grants with confidence.</a:t>
            </a:r>
          </a:p>
        </p:txBody>
      </p:sp>
      <p:sp>
        <p:nvSpPr>
          <p:cNvPr id="5" name="Rounded Rectangle 4"/>
          <p:cNvSpPr/>
          <p:nvPr/>
        </p:nvSpPr>
        <p:spPr>
          <a:xfrm>
            <a:off x="548640" y="2514599"/>
            <a:ext cx="3360466" cy="2106561"/>
          </a:xfrm>
          <a:prstGeom prst="roundRect">
            <a:avLst/>
          </a:prstGeom>
          <a:solidFill>
            <a:srgbClr val="FFFFFF"/>
          </a:solidFill>
          <a:ln w="12700">
            <a:solidFill>
              <a:srgbClr val="E7E0D3"/>
            </a:solidFill>
          </a:ln>
        </p:spPr>
        <p:style>
          <a:lnRef idx="1">
            <a:schemeClr val="accent1"/>
          </a:lnRef>
          <a:fillRef idx="3">
            <a:schemeClr val="accent1"/>
          </a:fillRef>
          <a:effectRef idx="2">
            <a:schemeClr val="accent1"/>
          </a:effectRef>
          <a:fontRef idx="minor">
            <a:schemeClr val="lt1"/>
          </a:fontRef>
        </p:style>
        <p:txBody>
          <a:bodyPr wrap="square" lIns="137160" tIns="109728" rIns="137160" bIns="91440" rtlCol="0" anchor="ctr"/>
          <a:lstStyle/>
          <a:p>
            <a:pPr algn="ctr">
              <a:spcAft>
                <a:spcPts val="600"/>
              </a:spcAft>
            </a:pPr>
            <a:r>
              <a:rPr sz="2000" b="1" dirty="0">
                <a:solidFill>
                  <a:srgbClr val="6B4F3A"/>
                </a:solidFill>
                <a:latin typeface="Segoe UI"/>
              </a:rPr>
              <a:t>English-first platforms</a:t>
            </a:r>
          </a:p>
          <a:p>
            <a:pPr algn="ctr"/>
            <a:r>
              <a:rPr sz="1600" dirty="0">
                <a:solidFill>
                  <a:srgbClr val="6E665B"/>
                </a:solidFill>
                <a:latin typeface="Segoe UI"/>
              </a:rPr>
              <a:t>Built for urban bandwidth. A shared 1GB phone on prepaid 3G is an afterthought.</a:t>
            </a:r>
          </a:p>
        </p:txBody>
      </p:sp>
      <p:sp>
        <p:nvSpPr>
          <p:cNvPr id="6" name="Rounded Rectangle 5"/>
          <p:cNvSpPr/>
          <p:nvPr/>
        </p:nvSpPr>
        <p:spPr>
          <a:xfrm>
            <a:off x="4069080" y="2514599"/>
            <a:ext cx="3360466" cy="2106561"/>
          </a:xfrm>
          <a:prstGeom prst="roundRect">
            <a:avLst/>
          </a:prstGeom>
          <a:solidFill>
            <a:srgbClr val="FFFFFF"/>
          </a:solidFill>
          <a:ln w="12700">
            <a:solidFill>
              <a:srgbClr val="E7E0D3"/>
            </a:solidFill>
          </a:ln>
        </p:spPr>
        <p:style>
          <a:lnRef idx="1">
            <a:schemeClr val="accent1"/>
          </a:lnRef>
          <a:fillRef idx="3">
            <a:schemeClr val="accent1"/>
          </a:fillRef>
          <a:effectRef idx="2">
            <a:schemeClr val="accent1"/>
          </a:effectRef>
          <a:fontRef idx="minor">
            <a:schemeClr val="lt1"/>
          </a:fontRef>
        </p:style>
        <p:txBody>
          <a:bodyPr wrap="square" lIns="137160" tIns="109728" rIns="137160" bIns="91440" rtlCol="0" anchor="ctr"/>
          <a:lstStyle/>
          <a:p>
            <a:pPr algn="ctr">
              <a:spcAft>
                <a:spcPts val="600"/>
              </a:spcAft>
            </a:pPr>
            <a:r>
              <a:rPr sz="2000" b="1">
                <a:solidFill>
                  <a:srgbClr val="6B4F3A"/>
                </a:solidFill>
                <a:latin typeface="Segoe UI"/>
              </a:rPr>
              <a:t>Nothing verifiable</a:t>
            </a:r>
          </a:p>
          <a:p>
            <a:pPr algn="ctr"/>
            <a:r>
              <a:rPr sz="1600">
                <a:solidFill>
                  <a:srgbClr val="6E665B"/>
                </a:solidFill>
                <a:latin typeface="Segoe UI"/>
              </a:rPr>
              <a:t>Learners finish modules but have no portable credential employers or NGOs trust.</a:t>
            </a:r>
          </a:p>
        </p:txBody>
      </p:sp>
      <p:sp>
        <p:nvSpPr>
          <p:cNvPr id="7" name="Rounded Rectangle 6"/>
          <p:cNvSpPr/>
          <p:nvPr/>
        </p:nvSpPr>
        <p:spPr>
          <a:xfrm>
            <a:off x="7589520" y="2514599"/>
            <a:ext cx="3360466" cy="2106561"/>
          </a:xfrm>
          <a:prstGeom prst="roundRect">
            <a:avLst/>
          </a:prstGeom>
          <a:solidFill>
            <a:srgbClr val="FFFFFF"/>
          </a:solidFill>
          <a:ln w="12700">
            <a:solidFill>
              <a:srgbClr val="E7E0D3"/>
            </a:solidFill>
          </a:ln>
        </p:spPr>
        <p:style>
          <a:lnRef idx="1">
            <a:schemeClr val="accent1"/>
          </a:lnRef>
          <a:fillRef idx="3">
            <a:schemeClr val="accent1"/>
          </a:fillRef>
          <a:effectRef idx="2">
            <a:schemeClr val="accent1"/>
          </a:effectRef>
          <a:fontRef idx="minor">
            <a:schemeClr val="lt1"/>
          </a:fontRef>
        </p:style>
        <p:txBody>
          <a:bodyPr wrap="square" lIns="137160" tIns="109728" rIns="137160" bIns="91440" rtlCol="0" anchor="ctr"/>
          <a:lstStyle/>
          <a:p>
            <a:pPr algn="ctr">
              <a:spcAft>
                <a:spcPts val="600"/>
              </a:spcAft>
            </a:pPr>
            <a:r>
              <a:rPr sz="2000" b="1">
                <a:solidFill>
                  <a:srgbClr val="6B4F3A"/>
                </a:solidFill>
                <a:latin typeface="Segoe UI"/>
              </a:rPr>
              <a:t>No grant targeting</a:t>
            </a:r>
          </a:p>
          <a:p>
            <a:pPr algn="ctr"/>
            <a:r>
              <a:rPr sz="1600">
                <a:solidFill>
                  <a:srgbClr val="6E665B"/>
                </a:solidFill>
                <a:latin typeface="Segoe UI"/>
              </a:rPr>
              <a:t>Program officers rely on forms and self-reporting instead of an auditable merit record.</a:t>
            </a:r>
          </a:p>
        </p:txBody>
      </p:sp>
      <p:sp>
        <p:nvSpPr>
          <p:cNvPr id="9" name="TextBox 8"/>
          <p:cNvSpPr txBox="1"/>
          <p:nvPr/>
        </p:nvSpPr>
        <p:spPr>
          <a:xfrm>
            <a:off x="548640" y="6446520"/>
            <a:ext cx="4572000" cy="320040"/>
          </a:xfrm>
          <a:prstGeom prst="rect">
            <a:avLst/>
          </a:prstGeom>
          <a:noFill/>
        </p:spPr>
        <p:txBody>
          <a:bodyPr wrap="square" anchor="t">
            <a:spAutoFit/>
          </a:bodyPr>
          <a:lstStyle/>
          <a:p>
            <a:pPr algn="l"/>
            <a:r>
              <a:rPr sz="1000" b="0">
                <a:solidFill>
                  <a:srgbClr val="6E665B"/>
                </a:solidFill>
                <a:latin typeface="Segoe UI"/>
              </a:rPr>
              <a:t>ANISKWELA  ·  Axon Enjin</a:t>
            </a:r>
          </a:p>
        </p:txBody>
      </p:sp>
      <p:sp>
        <p:nvSpPr>
          <p:cNvPr id="10" name="TextBox 9"/>
          <p:cNvSpPr txBox="1"/>
          <p:nvPr/>
        </p:nvSpPr>
        <p:spPr>
          <a:xfrm>
            <a:off x="9601200" y="6446520"/>
            <a:ext cx="2103120" cy="320040"/>
          </a:xfrm>
          <a:prstGeom prst="rect">
            <a:avLst/>
          </a:prstGeom>
          <a:noFill/>
        </p:spPr>
        <p:txBody>
          <a:bodyPr wrap="square" anchor="t">
            <a:spAutoFit/>
          </a:bodyPr>
          <a:lstStyle/>
          <a:p>
            <a:pPr algn="r"/>
            <a:r>
              <a:t>Grant partner deck  ·  2/11</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BF8F2"/>
        </a:solidFill>
        <a:effectLst/>
      </p:bgPr>
    </p:bg>
    <p:spTree>
      <p:nvGrpSpPr>
        <p:cNvPr id="1" name=""/>
        <p:cNvGrpSpPr/>
        <p:nvPr/>
      </p:nvGrpSpPr>
      <p:grpSpPr>
        <a:xfrm>
          <a:off x="0" y="0"/>
          <a:ext cx="0" cy="0"/>
          <a:chOff x="0" y="0"/>
          <a:chExt cx="0" cy="0"/>
        </a:xfrm>
      </p:grpSpPr>
      <p:sp>
        <p:nvSpPr>
          <p:cNvPr id="2" name="TextBox 1"/>
          <p:cNvSpPr txBox="1"/>
          <p:nvPr/>
        </p:nvSpPr>
        <p:spPr>
          <a:xfrm>
            <a:off x="685800" y="502920"/>
            <a:ext cx="3657600" cy="320040"/>
          </a:xfrm>
          <a:prstGeom prst="rect">
            <a:avLst/>
          </a:prstGeom>
          <a:noFill/>
        </p:spPr>
        <p:txBody>
          <a:bodyPr wrap="square" anchor="t">
            <a:spAutoFit/>
          </a:bodyPr>
          <a:lstStyle/>
          <a:p>
            <a:pPr algn="l"/>
            <a:r>
              <a:rPr sz="1100" b="1">
                <a:solidFill>
                  <a:srgbClr val="3F8E5B"/>
                </a:solidFill>
                <a:latin typeface="Segoe UI"/>
              </a:rPr>
              <a:t>THE OPPORTUNITY</a:t>
            </a:r>
          </a:p>
        </p:txBody>
      </p:sp>
      <p:sp>
        <p:nvSpPr>
          <p:cNvPr id="3" name="TextBox 2"/>
          <p:cNvSpPr txBox="1"/>
          <p:nvPr/>
        </p:nvSpPr>
        <p:spPr>
          <a:xfrm>
            <a:off x="685800" y="868680"/>
            <a:ext cx="10515600" cy="822960"/>
          </a:xfrm>
          <a:prstGeom prst="rect">
            <a:avLst/>
          </a:prstGeom>
          <a:noFill/>
        </p:spPr>
        <p:txBody>
          <a:bodyPr wrap="square" anchor="t">
            <a:spAutoFit/>
          </a:bodyPr>
          <a:lstStyle/>
          <a:p>
            <a:pPr algn="l"/>
            <a:r>
              <a:rPr sz="3200" b="1">
                <a:solidFill>
                  <a:srgbClr val="6B4F3A"/>
                </a:solidFill>
                <a:latin typeface="Segoe UI"/>
              </a:rPr>
              <a:t>A farmer-first market that is already on mobile.</a:t>
            </a:r>
          </a:p>
        </p:txBody>
      </p:sp>
      <p:sp>
        <p:nvSpPr>
          <p:cNvPr id="4" name="TextBox 3"/>
          <p:cNvSpPr txBox="1"/>
          <p:nvPr/>
        </p:nvSpPr>
        <p:spPr>
          <a:xfrm>
            <a:off x="685800" y="1600200"/>
            <a:ext cx="10515600" cy="640080"/>
          </a:xfrm>
          <a:prstGeom prst="rect">
            <a:avLst/>
          </a:prstGeom>
          <a:noFill/>
        </p:spPr>
        <p:txBody>
          <a:bodyPr wrap="square" anchor="t">
            <a:spAutoFit/>
          </a:bodyPr>
          <a:lstStyle/>
          <a:p>
            <a:pPr algn="l"/>
            <a:r>
              <a:rPr sz="1700" b="0">
                <a:solidFill>
                  <a:srgbClr val="6E665B"/>
                </a:solidFill>
                <a:latin typeface="Segoe UI"/>
              </a:rPr>
              <a:t>Millions of agricultural workers. Most Filipinos already online on mobile. Public skills funding exists but rarely reaches rural farmers with proof.</a:t>
            </a:r>
          </a:p>
        </p:txBody>
      </p:sp>
      <p:sp>
        <p:nvSpPr>
          <p:cNvPr id="5" name="Rounded Rectangle 4"/>
          <p:cNvSpPr/>
          <p:nvPr/>
        </p:nvSpPr>
        <p:spPr>
          <a:xfrm>
            <a:off x="685800" y="2331720"/>
            <a:ext cx="5074920" cy="1600200"/>
          </a:xfrm>
          <a:prstGeom prst="roundRect">
            <a:avLst/>
          </a:prstGeom>
          <a:solidFill>
            <a:srgbClr val="FFFFFF"/>
          </a:solidFill>
          <a:ln w="12700">
            <a:solidFill>
              <a:srgbClr val="E7E0D3"/>
            </a:solidFill>
          </a:ln>
        </p:spPr>
        <p:style>
          <a:lnRef idx="1">
            <a:schemeClr val="accent1"/>
          </a:lnRef>
          <a:fillRef idx="3">
            <a:schemeClr val="accent1"/>
          </a:fillRef>
          <a:effectRef idx="2">
            <a:schemeClr val="accent1"/>
          </a:effectRef>
          <a:fontRef idx="minor">
            <a:schemeClr val="lt1"/>
          </a:fontRef>
        </p:style>
        <p:txBody>
          <a:bodyPr wrap="square" lIns="137160" tIns="109728" rIns="137160" bIns="91440" rtlCol="0" anchor="ctr"/>
          <a:lstStyle/>
          <a:p>
            <a:pPr>
              <a:spcAft>
                <a:spcPts val="400"/>
              </a:spcAft>
            </a:pPr>
            <a:r>
              <a:rPr sz="1050" b="1">
                <a:solidFill>
                  <a:srgbClr val="3F8E5B"/>
                </a:solidFill>
                <a:latin typeface="Segoe UI"/>
              </a:rPr>
              <a:t>TAM</a:t>
            </a:r>
          </a:p>
          <a:p>
            <a:pPr>
              <a:spcAft>
                <a:spcPts val="600"/>
              </a:spcAft>
            </a:pPr>
            <a:r>
              <a:rPr b="1">
                <a:solidFill>
                  <a:srgbClr val="6B4F3A"/>
                </a:solidFill>
                <a:latin typeface="Segoe UI"/>
              </a:rPr>
              <a:t>10.7M agri workers (RSBSA)</a:t>
            </a:r>
          </a:p>
          <a:p>
            <a:r>
              <a:rPr sz="1400">
                <a:solidFill>
                  <a:srgbClr val="6E665B"/>
                </a:solidFill>
                <a:latin typeface="Segoe UI"/>
              </a:rPr>
              <a:t>6.8M farmers · 2.7M fisherfolk · ~2M farm workers · 328K farm youth. ~21% of employed Filipinos work in agriculture (PSA).</a:t>
            </a:r>
          </a:p>
        </p:txBody>
      </p:sp>
      <p:sp>
        <p:nvSpPr>
          <p:cNvPr id="6" name="Rounded Rectangle 5"/>
          <p:cNvSpPr/>
          <p:nvPr/>
        </p:nvSpPr>
        <p:spPr>
          <a:xfrm>
            <a:off x="5989320" y="2331720"/>
            <a:ext cx="5074920" cy="1600200"/>
          </a:xfrm>
          <a:prstGeom prst="roundRect">
            <a:avLst/>
          </a:prstGeom>
          <a:solidFill>
            <a:srgbClr val="FFFFFF"/>
          </a:solidFill>
          <a:ln w="12700">
            <a:solidFill>
              <a:srgbClr val="E7E0D3"/>
            </a:solidFill>
          </a:ln>
        </p:spPr>
        <p:style>
          <a:lnRef idx="1">
            <a:schemeClr val="accent1"/>
          </a:lnRef>
          <a:fillRef idx="3">
            <a:schemeClr val="accent1"/>
          </a:fillRef>
          <a:effectRef idx="2">
            <a:schemeClr val="accent1"/>
          </a:effectRef>
          <a:fontRef idx="minor">
            <a:schemeClr val="lt1"/>
          </a:fontRef>
        </p:style>
        <p:txBody>
          <a:bodyPr wrap="square" lIns="137160" tIns="109728" rIns="137160" bIns="91440" rtlCol="0" anchor="ctr"/>
          <a:lstStyle/>
          <a:p>
            <a:pPr>
              <a:spcAft>
                <a:spcPts val="400"/>
              </a:spcAft>
            </a:pPr>
            <a:r>
              <a:rPr sz="1050" b="1">
                <a:solidFill>
                  <a:srgbClr val="3F8E5B"/>
                </a:solidFill>
                <a:latin typeface="Segoe UI"/>
              </a:rPr>
              <a:t>Reach</a:t>
            </a:r>
          </a:p>
          <a:p>
            <a:pPr>
              <a:spcAft>
                <a:spcPts val="600"/>
              </a:spcAft>
            </a:pPr>
            <a:r>
              <a:rPr b="1">
                <a:solidFill>
                  <a:srgbClr val="6B4F3A"/>
                </a:solidFill>
                <a:latin typeface="Segoe UI"/>
              </a:rPr>
              <a:t>98M online · 137M mobile</a:t>
            </a:r>
          </a:p>
          <a:p>
            <a:r>
              <a:rPr sz="1400">
                <a:solidFill>
                  <a:srgbClr val="6E665B"/>
                </a:solidFill>
                <a:latin typeface="Segoe UI"/>
              </a:rPr>
              <a:t>83.8% internet penetration. ~89% of mobile on 3G/4G/5G. Validates EN/Fil mobile-first, sub-3G design.</a:t>
            </a:r>
          </a:p>
        </p:txBody>
      </p:sp>
      <p:sp>
        <p:nvSpPr>
          <p:cNvPr id="7" name="Rounded Rectangle 6"/>
          <p:cNvSpPr/>
          <p:nvPr/>
        </p:nvSpPr>
        <p:spPr>
          <a:xfrm>
            <a:off x="685800" y="4160520"/>
            <a:ext cx="5074920" cy="1600200"/>
          </a:xfrm>
          <a:prstGeom prst="roundRect">
            <a:avLst/>
          </a:prstGeom>
          <a:solidFill>
            <a:srgbClr val="FFFFFF"/>
          </a:solidFill>
          <a:ln w="12700">
            <a:solidFill>
              <a:srgbClr val="E7E0D3"/>
            </a:solidFill>
          </a:ln>
        </p:spPr>
        <p:style>
          <a:lnRef idx="1">
            <a:schemeClr val="accent1"/>
          </a:lnRef>
          <a:fillRef idx="3">
            <a:schemeClr val="accent1"/>
          </a:fillRef>
          <a:effectRef idx="2">
            <a:schemeClr val="accent1"/>
          </a:effectRef>
          <a:fontRef idx="minor">
            <a:schemeClr val="lt1"/>
          </a:fontRef>
        </p:style>
        <p:txBody>
          <a:bodyPr wrap="square" lIns="137160" tIns="109728" rIns="137160" bIns="91440" rtlCol="0" anchor="ctr"/>
          <a:lstStyle/>
          <a:p>
            <a:pPr>
              <a:spcAft>
                <a:spcPts val="400"/>
              </a:spcAft>
            </a:pPr>
            <a:r>
              <a:rPr sz="1050" b="1">
                <a:solidFill>
                  <a:srgbClr val="4B6BF1"/>
                </a:solidFill>
                <a:latin typeface="Segoe UI"/>
              </a:rPr>
              <a:t>Funding pool</a:t>
            </a:r>
          </a:p>
          <a:p>
            <a:pPr>
              <a:spcAft>
                <a:spcPts val="600"/>
              </a:spcAft>
            </a:pPr>
            <a:r>
              <a:rPr b="1">
                <a:solidFill>
                  <a:srgbClr val="6B4F3A"/>
                </a:solidFill>
                <a:latin typeface="Segoe UI"/>
              </a:rPr>
              <a:t>~₱16B public TVET spend</a:t>
            </a:r>
          </a:p>
          <a:p>
            <a:r>
              <a:rPr sz="1400">
                <a:solidFill>
                  <a:srgbClr val="6E665B"/>
                </a:solidFill>
                <a:latin typeface="Segoe UI"/>
              </a:rPr>
              <a:t>TESDA free tech-voc in 2025; only ~250K of 1.37M graduates were scholarship-funded. FY2026 workforce budget ~₱18.4B.</a:t>
            </a:r>
          </a:p>
        </p:txBody>
      </p:sp>
      <p:sp>
        <p:nvSpPr>
          <p:cNvPr id="8" name="Rounded Rectangle 7"/>
          <p:cNvSpPr/>
          <p:nvPr/>
        </p:nvSpPr>
        <p:spPr>
          <a:xfrm>
            <a:off x="5989320" y="4160520"/>
            <a:ext cx="5074920" cy="1600200"/>
          </a:xfrm>
          <a:prstGeom prst="roundRect">
            <a:avLst/>
          </a:prstGeom>
          <a:solidFill>
            <a:srgbClr val="FFFFFF"/>
          </a:solidFill>
          <a:ln w="12700">
            <a:solidFill>
              <a:srgbClr val="E7E0D3"/>
            </a:solidFill>
          </a:ln>
        </p:spPr>
        <p:style>
          <a:lnRef idx="1">
            <a:schemeClr val="accent1"/>
          </a:lnRef>
          <a:fillRef idx="3">
            <a:schemeClr val="accent1"/>
          </a:fillRef>
          <a:effectRef idx="2">
            <a:schemeClr val="accent1"/>
          </a:effectRef>
          <a:fontRef idx="minor">
            <a:schemeClr val="lt1"/>
          </a:fontRef>
        </p:style>
        <p:txBody>
          <a:bodyPr wrap="square" lIns="137160" tIns="109728" rIns="137160" bIns="91440" rtlCol="0" anchor="ctr"/>
          <a:lstStyle/>
          <a:p>
            <a:pPr>
              <a:spcAft>
                <a:spcPts val="400"/>
              </a:spcAft>
            </a:pPr>
            <a:r>
              <a:rPr sz="1050" b="1">
                <a:solidFill>
                  <a:srgbClr val="C8852A"/>
                </a:solidFill>
                <a:latin typeface="Segoe UI"/>
              </a:rPr>
              <a:t>Our wedge</a:t>
            </a:r>
          </a:p>
          <a:p>
            <a:pPr>
              <a:spcAft>
                <a:spcPts val="600"/>
              </a:spcAft>
            </a:pPr>
            <a:r>
              <a:rPr b="1">
                <a:solidFill>
                  <a:srgbClr val="6B4F3A"/>
                </a:solidFill>
                <a:latin typeface="Segoe UI"/>
              </a:rPr>
              <a:t>90-day pilot beachhead</a:t>
            </a:r>
          </a:p>
          <a:p>
            <a:r>
              <a:rPr sz="1400">
                <a:solidFill>
                  <a:srgbClr val="6E665B"/>
                </a:solidFill>
                <a:latin typeface="Segoe UI"/>
              </a:rPr>
              <a:t>50 published courses · 500 learners · 1 simulated grant program · 10 extension teachers in partner network.</a:t>
            </a:r>
          </a:p>
        </p:txBody>
      </p:sp>
      <p:sp>
        <p:nvSpPr>
          <p:cNvPr id="9" name="TextBox 8"/>
          <p:cNvSpPr txBox="1"/>
          <p:nvPr/>
        </p:nvSpPr>
        <p:spPr>
          <a:xfrm>
            <a:off x="685800" y="5897880"/>
            <a:ext cx="10835640" cy="411480"/>
          </a:xfrm>
          <a:prstGeom prst="rect">
            <a:avLst/>
          </a:prstGeom>
          <a:noFill/>
        </p:spPr>
        <p:txBody>
          <a:bodyPr wrap="square" anchor="t">
            <a:spAutoFit/>
          </a:bodyPr>
          <a:lstStyle/>
          <a:p>
            <a:pPr algn="l"/>
            <a:r>
              <a:rPr sz="900" b="0">
                <a:solidFill>
                  <a:srgbClr val="6E665B"/>
                </a:solidFill>
                <a:latin typeface="Segoe UI"/>
              </a:rPr>
              <a:t>Sources: PSA LFS 2025 · DA/ATI RSBSA (Senate hearing, Jan 2026) · DataReportal Digital 2026 · TESDA / FY2026 budget briefer</a:t>
            </a:r>
          </a:p>
        </p:txBody>
      </p:sp>
      <p:sp>
        <p:nvSpPr>
          <p:cNvPr id="10" name="TextBox 9"/>
          <p:cNvSpPr txBox="1"/>
          <p:nvPr/>
        </p:nvSpPr>
        <p:spPr>
          <a:xfrm>
            <a:off x="548640" y="6446520"/>
            <a:ext cx="4572000" cy="320040"/>
          </a:xfrm>
          <a:prstGeom prst="rect">
            <a:avLst/>
          </a:prstGeom>
          <a:noFill/>
        </p:spPr>
        <p:txBody>
          <a:bodyPr wrap="square" anchor="t">
            <a:spAutoFit/>
          </a:bodyPr>
          <a:lstStyle/>
          <a:p>
            <a:pPr algn="l"/>
            <a:r>
              <a:rPr sz="1000" b="0">
                <a:solidFill>
                  <a:srgbClr val="6E665B"/>
                </a:solidFill>
                <a:latin typeface="Segoe UI"/>
              </a:rPr>
              <a:t>ANISKWELA  ·  Axon Enjin</a:t>
            </a:r>
          </a:p>
        </p:txBody>
      </p:sp>
      <p:sp>
        <p:nvSpPr>
          <p:cNvPr id="11" name="TextBox 10"/>
          <p:cNvSpPr txBox="1"/>
          <p:nvPr/>
        </p:nvSpPr>
        <p:spPr>
          <a:xfrm>
            <a:off x="9601200" y="6446520"/>
            <a:ext cx="2103120" cy="320040"/>
          </a:xfrm>
          <a:prstGeom prst="rect">
            <a:avLst/>
          </a:prstGeom>
          <a:noFill/>
        </p:spPr>
        <p:txBody>
          <a:bodyPr wrap="square" anchor="t">
            <a:spAutoFit/>
          </a:bodyPr>
          <a:lstStyle/>
          <a:p>
            <a:pPr algn="r"/>
            <a:r>
              <a:t>Grant partner deck  ·  3/11</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BF8F2"/>
        </a:solidFill>
        <a:effectLst/>
      </p:bgPr>
    </p:bg>
    <p:spTree>
      <p:nvGrpSpPr>
        <p:cNvPr id="1" name=""/>
        <p:cNvGrpSpPr/>
        <p:nvPr/>
      </p:nvGrpSpPr>
      <p:grpSpPr>
        <a:xfrm>
          <a:off x="0" y="0"/>
          <a:ext cx="0" cy="0"/>
          <a:chOff x="0" y="0"/>
          <a:chExt cx="0" cy="0"/>
        </a:xfrm>
      </p:grpSpPr>
      <p:sp>
        <p:nvSpPr>
          <p:cNvPr id="2" name="TextBox 1"/>
          <p:cNvSpPr txBox="1"/>
          <p:nvPr/>
        </p:nvSpPr>
        <p:spPr>
          <a:xfrm>
            <a:off x="685800" y="502920"/>
            <a:ext cx="3657600" cy="320040"/>
          </a:xfrm>
          <a:prstGeom prst="rect">
            <a:avLst/>
          </a:prstGeom>
          <a:noFill/>
        </p:spPr>
        <p:txBody>
          <a:bodyPr wrap="square" anchor="t">
            <a:spAutoFit/>
          </a:bodyPr>
          <a:lstStyle/>
          <a:p>
            <a:pPr algn="l"/>
            <a:r>
              <a:rPr sz="1100" b="1">
                <a:solidFill>
                  <a:srgbClr val="3F8E5B"/>
                </a:solidFill>
                <a:latin typeface="Segoe UI"/>
              </a:rPr>
              <a:t>THE SOLUTION</a:t>
            </a:r>
          </a:p>
        </p:txBody>
      </p:sp>
      <p:sp>
        <p:nvSpPr>
          <p:cNvPr id="3" name="TextBox 2"/>
          <p:cNvSpPr txBox="1"/>
          <p:nvPr/>
        </p:nvSpPr>
        <p:spPr>
          <a:xfrm>
            <a:off x="685800" y="868680"/>
            <a:ext cx="10515600" cy="822960"/>
          </a:xfrm>
          <a:prstGeom prst="rect">
            <a:avLst/>
          </a:prstGeom>
          <a:noFill/>
        </p:spPr>
        <p:txBody>
          <a:bodyPr wrap="square" anchor="t">
            <a:spAutoFit/>
          </a:bodyPr>
          <a:lstStyle/>
          <a:p>
            <a:pPr algn="l"/>
            <a:r>
              <a:rPr sz="3200" b="1">
                <a:solidFill>
                  <a:srgbClr val="6B4F3A"/>
                </a:solidFill>
                <a:latin typeface="Segoe UI"/>
              </a:rPr>
              <a:t>Aniskwela: harvest school for Filipino farmers.</a:t>
            </a:r>
          </a:p>
        </p:txBody>
      </p:sp>
      <p:sp>
        <p:nvSpPr>
          <p:cNvPr id="4" name="TextBox 3"/>
          <p:cNvSpPr txBox="1"/>
          <p:nvPr/>
        </p:nvSpPr>
        <p:spPr>
          <a:xfrm>
            <a:off x="685800" y="1600200"/>
            <a:ext cx="10515600" cy="338554"/>
          </a:xfrm>
          <a:prstGeom prst="rect">
            <a:avLst/>
          </a:prstGeom>
          <a:noFill/>
        </p:spPr>
        <p:txBody>
          <a:bodyPr wrap="square" anchor="t">
            <a:spAutoFit/>
          </a:bodyPr>
          <a:lstStyle/>
          <a:p>
            <a:pPr algn="l"/>
            <a:r>
              <a:rPr sz="1600" b="0" dirty="0">
                <a:solidFill>
                  <a:srgbClr val="6E665B"/>
                </a:solidFill>
                <a:latin typeface="Segoe UI"/>
              </a:rPr>
              <a:t>A content-agnostic learning engine, positioned farmer-first, with open credentials and a funder-ready merit ledger.</a:t>
            </a:r>
          </a:p>
        </p:txBody>
      </p:sp>
      <p:sp>
        <p:nvSpPr>
          <p:cNvPr id="5" name="Rounded Rectangle 4"/>
          <p:cNvSpPr/>
          <p:nvPr/>
        </p:nvSpPr>
        <p:spPr>
          <a:xfrm>
            <a:off x="685800" y="2423160"/>
            <a:ext cx="5074920" cy="1691640"/>
          </a:xfrm>
          <a:prstGeom prst="roundRect">
            <a:avLst/>
          </a:prstGeom>
          <a:solidFill>
            <a:srgbClr val="FFFFFF"/>
          </a:solidFill>
          <a:ln w="12700">
            <a:solidFill>
              <a:srgbClr val="E7E0D3"/>
            </a:solidFill>
          </a:ln>
        </p:spPr>
        <p:style>
          <a:lnRef idx="1">
            <a:schemeClr val="accent1"/>
          </a:lnRef>
          <a:fillRef idx="3">
            <a:schemeClr val="accent1"/>
          </a:fillRef>
          <a:effectRef idx="2">
            <a:schemeClr val="accent1"/>
          </a:effectRef>
          <a:fontRef idx="minor">
            <a:schemeClr val="lt1"/>
          </a:fontRef>
        </p:style>
        <p:txBody>
          <a:bodyPr wrap="square" lIns="137160" tIns="109728" rIns="137160" bIns="91440" rtlCol="0" anchor="ctr"/>
          <a:lstStyle/>
          <a:p>
            <a:pPr>
              <a:spcAft>
                <a:spcPts val="400"/>
              </a:spcAft>
            </a:pPr>
            <a:r>
              <a:rPr sz="1200" b="1" dirty="0">
                <a:solidFill>
                  <a:srgbClr val="3F8E5B"/>
                </a:solidFill>
                <a:latin typeface="Segoe UI"/>
              </a:rPr>
              <a:t>Live</a:t>
            </a:r>
          </a:p>
          <a:p>
            <a:pPr>
              <a:spcAft>
                <a:spcPts val="600"/>
              </a:spcAft>
            </a:pPr>
            <a:r>
              <a:rPr sz="2400" b="1" dirty="0">
                <a:solidFill>
                  <a:srgbClr val="6B4F3A"/>
                </a:solidFill>
                <a:latin typeface="Segoe UI"/>
              </a:rPr>
              <a:t>AI course generation</a:t>
            </a:r>
          </a:p>
          <a:p>
            <a:r>
              <a:rPr dirty="0">
                <a:solidFill>
                  <a:srgbClr val="6E665B"/>
                </a:solidFill>
                <a:latin typeface="Segoe UI"/>
              </a:rPr>
              <a:t>Teachers upload a PDF. Azure AI Foundry drafts modules and quizzes. Human review before publish.</a:t>
            </a:r>
          </a:p>
        </p:txBody>
      </p:sp>
      <p:sp>
        <p:nvSpPr>
          <p:cNvPr id="6" name="Rounded Rectangle 5"/>
          <p:cNvSpPr/>
          <p:nvPr/>
        </p:nvSpPr>
        <p:spPr>
          <a:xfrm>
            <a:off x="5989320" y="2423160"/>
            <a:ext cx="5074920" cy="1691640"/>
          </a:xfrm>
          <a:prstGeom prst="roundRect">
            <a:avLst/>
          </a:prstGeom>
          <a:solidFill>
            <a:srgbClr val="FFFFFF"/>
          </a:solidFill>
          <a:ln w="12700">
            <a:solidFill>
              <a:srgbClr val="E7E0D3"/>
            </a:solidFill>
          </a:ln>
        </p:spPr>
        <p:style>
          <a:lnRef idx="1">
            <a:schemeClr val="accent1"/>
          </a:lnRef>
          <a:fillRef idx="3">
            <a:schemeClr val="accent1"/>
          </a:fillRef>
          <a:effectRef idx="2">
            <a:schemeClr val="accent1"/>
          </a:effectRef>
          <a:fontRef idx="minor">
            <a:schemeClr val="lt1"/>
          </a:fontRef>
        </p:style>
        <p:txBody>
          <a:bodyPr wrap="square" lIns="137160" tIns="109728" rIns="137160" bIns="91440" rtlCol="0" anchor="ctr"/>
          <a:lstStyle/>
          <a:p>
            <a:pPr>
              <a:spcAft>
                <a:spcPts val="400"/>
              </a:spcAft>
            </a:pPr>
            <a:r>
              <a:rPr sz="1200" b="1" dirty="0">
                <a:solidFill>
                  <a:srgbClr val="C8852A"/>
                </a:solidFill>
                <a:latin typeface="Segoe UI"/>
              </a:rPr>
              <a:t>Roadmap</a:t>
            </a:r>
          </a:p>
          <a:p>
            <a:pPr>
              <a:spcAft>
                <a:spcPts val="600"/>
              </a:spcAft>
            </a:pPr>
            <a:r>
              <a:rPr sz="2400" b="1" dirty="0">
                <a:solidFill>
                  <a:srgbClr val="6B4F3A"/>
                </a:solidFill>
                <a:latin typeface="Segoe UI"/>
              </a:rPr>
              <a:t>Merit ledger</a:t>
            </a:r>
          </a:p>
          <a:p>
            <a:r>
              <a:rPr dirty="0">
                <a:solidFill>
                  <a:srgbClr val="6E665B"/>
                </a:solidFill>
                <a:latin typeface="Segoe UI"/>
              </a:rPr>
              <a:t>XP, streaks, and badges accumulate. Never spent. Funders read consistency, not casino engagement.</a:t>
            </a:r>
          </a:p>
        </p:txBody>
      </p:sp>
      <p:sp>
        <p:nvSpPr>
          <p:cNvPr id="7" name="Rounded Rectangle 6"/>
          <p:cNvSpPr/>
          <p:nvPr/>
        </p:nvSpPr>
        <p:spPr>
          <a:xfrm>
            <a:off x="685800" y="4434840"/>
            <a:ext cx="5074920" cy="1691640"/>
          </a:xfrm>
          <a:prstGeom prst="roundRect">
            <a:avLst/>
          </a:prstGeom>
          <a:solidFill>
            <a:srgbClr val="FFFFFF"/>
          </a:solidFill>
          <a:ln w="12700">
            <a:solidFill>
              <a:srgbClr val="E7E0D3"/>
            </a:solidFill>
          </a:ln>
        </p:spPr>
        <p:style>
          <a:lnRef idx="1">
            <a:schemeClr val="accent1"/>
          </a:lnRef>
          <a:fillRef idx="3">
            <a:schemeClr val="accent1"/>
          </a:fillRef>
          <a:effectRef idx="2">
            <a:schemeClr val="accent1"/>
          </a:effectRef>
          <a:fontRef idx="minor">
            <a:schemeClr val="lt1"/>
          </a:fontRef>
        </p:style>
        <p:txBody>
          <a:bodyPr wrap="square" lIns="137160" tIns="109728" rIns="137160" bIns="91440" rtlCol="0" anchor="ctr"/>
          <a:lstStyle/>
          <a:p>
            <a:pPr>
              <a:spcAft>
                <a:spcPts val="400"/>
              </a:spcAft>
            </a:pPr>
            <a:r>
              <a:rPr sz="1200" b="1" dirty="0">
                <a:solidFill>
                  <a:srgbClr val="C8852A"/>
                </a:solidFill>
                <a:latin typeface="Segoe UI"/>
              </a:rPr>
              <a:t>Roadmap</a:t>
            </a:r>
          </a:p>
          <a:p>
            <a:pPr>
              <a:spcAft>
                <a:spcPts val="600"/>
              </a:spcAft>
            </a:pPr>
            <a:r>
              <a:rPr sz="2400" b="1" dirty="0">
                <a:solidFill>
                  <a:srgbClr val="6B4F3A"/>
                </a:solidFill>
                <a:latin typeface="Segoe UI"/>
              </a:rPr>
              <a:t>Verifiable credentials</a:t>
            </a:r>
          </a:p>
          <a:p>
            <a:r>
              <a:rPr dirty="0">
                <a:solidFill>
                  <a:srgbClr val="6E665B"/>
                </a:solidFill>
                <a:latin typeface="Segoe UI"/>
              </a:rPr>
              <a:t>W3C VC and Open Badges 3.0. Only a hash anchored on Stellar. No personal data on-chain.</a:t>
            </a:r>
          </a:p>
        </p:txBody>
      </p:sp>
      <p:sp>
        <p:nvSpPr>
          <p:cNvPr id="8" name="Rounded Rectangle 7"/>
          <p:cNvSpPr/>
          <p:nvPr/>
        </p:nvSpPr>
        <p:spPr>
          <a:xfrm>
            <a:off x="5989320" y="4434840"/>
            <a:ext cx="5074920" cy="1691640"/>
          </a:xfrm>
          <a:prstGeom prst="roundRect">
            <a:avLst/>
          </a:prstGeom>
          <a:solidFill>
            <a:srgbClr val="FFFFFF"/>
          </a:solidFill>
          <a:ln w="12700">
            <a:solidFill>
              <a:srgbClr val="E7E0D3"/>
            </a:solidFill>
          </a:ln>
        </p:spPr>
        <p:style>
          <a:lnRef idx="1">
            <a:schemeClr val="accent1"/>
          </a:lnRef>
          <a:fillRef idx="3">
            <a:schemeClr val="accent1"/>
          </a:fillRef>
          <a:effectRef idx="2">
            <a:schemeClr val="accent1"/>
          </a:effectRef>
          <a:fontRef idx="minor">
            <a:schemeClr val="lt1"/>
          </a:fontRef>
        </p:style>
        <p:txBody>
          <a:bodyPr wrap="square" lIns="137160" tIns="109728" rIns="137160" bIns="91440" rtlCol="0" anchor="ctr"/>
          <a:lstStyle/>
          <a:p>
            <a:pPr>
              <a:spcAft>
                <a:spcPts val="400"/>
              </a:spcAft>
            </a:pPr>
            <a:r>
              <a:rPr sz="1200" b="1" dirty="0">
                <a:solidFill>
                  <a:srgbClr val="3F8E5B"/>
                </a:solidFill>
                <a:latin typeface="Segoe UI"/>
              </a:rPr>
              <a:t>Live</a:t>
            </a:r>
          </a:p>
          <a:p>
            <a:pPr>
              <a:spcAft>
                <a:spcPts val="600"/>
              </a:spcAft>
            </a:pPr>
            <a:r>
              <a:rPr sz="2400" b="1" dirty="0">
                <a:solidFill>
                  <a:srgbClr val="6B4F3A"/>
                </a:solidFill>
                <a:latin typeface="Segoe UI"/>
              </a:rPr>
              <a:t>Filipino-first, low-resource</a:t>
            </a:r>
          </a:p>
          <a:p>
            <a:r>
              <a:rPr dirty="0">
                <a:solidFill>
                  <a:srgbClr val="6E665B"/>
                </a:solidFill>
                <a:latin typeface="Segoe UI"/>
              </a:rPr>
              <a:t>EN and Filipino toggle. Sub-3G performance budget. System fonts. Light theme only.</a:t>
            </a:r>
          </a:p>
        </p:txBody>
      </p:sp>
      <p:sp>
        <p:nvSpPr>
          <p:cNvPr id="9" name="TextBox 8"/>
          <p:cNvSpPr txBox="1"/>
          <p:nvPr/>
        </p:nvSpPr>
        <p:spPr>
          <a:xfrm>
            <a:off x="548640" y="6446520"/>
            <a:ext cx="4572000" cy="320040"/>
          </a:xfrm>
          <a:prstGeom prst="rect">
            <a:avLst/>
          </a:prstGeom>
          <a:noFill/>
        </p:spPr>
        <p:txBody>
          <a:bodyPr wrap="square" anchor="t">
            <a:spAutoFit/>
          </a:bodyPr>
          <a:lstStyle/>
          <a:p>
            <a:pPr algn="l"/>
            <a:r>
              <a:rPr sz="1000" b="0">
                <a:solidFill>
                  <a:srgbClr val="6E665B"/>
                </a:solidFill>
                <a:latin typeface="Segoe UI"/>
              </a:rPr>
              <a:t>ANISKWELA  ·  Axon Enjin</a:t>
            </a:r>
          </a:p>
        </p:txBody>
      </p:sp>
      <p:sp>
        <p:nvSpPr>
          <p:cNvPr id="10" name="TextBox 9"/>
          <p:cNvSpPr txBox="1"/>
          <p:nvPr/>
        </p:nvSpPr>
        <p:spPr>
          <a:xfrm>
            <a:off x="9601200" y="6446520"/>
            <a:ext cx="2103120" cy="320040"/>
          </a:xfrm>
          <a:prstGeom prst="rect">
            <a:avLst/>
          </a:prstGeom>
          <a:noFill/>
        </p:spPr>
        <p:txBody>
          <a:bodyPr wrap="square" anchor="t">
            <a:spAutoFit/>
          </a:bodyPr>
          <a:lstStyle/>
          <a:p>
            <a:pPr algn="r"/>
            <a:r>
              <a:t>Grant partner deck  ·  4/11</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BF8F2"/>
        </a:solidFill>
        <a:effectLst/>
      </p:bgPr>
    </p:bg>
    <p:spTree>
      <p:nvGrpSpPr>
        <p:cNvPr id="1" name=""/>
        <p:cNvGrpSpPr/>
        <p:nvPr/>
      </p:nvGrpSpPr>
      <p:grpSpPr>
        <a:xfrm>
          <a:off x="0" y="0"/>
          <a:ext cx="0" cy="0"/>
          <a:chOff x="0" y="0"/>
          <a:chExt cx="0" cy="0"/>
        </a:xfrm>
      </p:grpSpPr>
      <p:sp>
        <p:nvSpPr>
          <p:cNvPr id="2" name="TextBox 1"/>
          <p:cNvSpPr txBox="1"/>
          <p:nvPr/>
        </p:nvSpPr>
        <p:spPr>
          <a:xfrm>
            <a:off x="685800" y="502920"/>
            <a:ext cx="3657600" cy="320040"/>
          </a:xfrm>
          <a:prstGeom prst="rect">
            <a:avLst/>
          </a:prstGeom>
          <a:noFill/>
        </p:spPr>
        <p:txBody>
          <a:bodyPr wrap="square" anchor="t">
            <a:spAutoFit/>
          </a:bodyPr>
          <a:lstStyle/>
          <a:p>
            <a:pPr algn="l"/>
            <a:r>
              <a:rPr sz="1100" b="1">
                <a:solidFill>
                  <a:srgbClr val="3F8E5B"/>
                </a:solidFill>
                <a:latin typeface="Segoe UI"/>
              </a:rPr>
              <a:t>LEARNER EXPERIENCE</a:t>
            </a:r>
          </a:p>
        </p:txBody>
      </p:sp>
      <p:sp>
        <p:nvSpPr>
          <p:cNvPr id="3" name="TextBox 2"/>
          <p:cNvSpPr txBox="1"/>
          <p:nvPr/>
        </p:nvSpPr>
        <p:spPr>
          <a:xfrm>
            <a:off x="685800" y="868680"/>
            <a:ext cx="10515600" cy="584775"/>
          </a:xfrm>
          <a:prstGeom prst="rect">
            <a:avLst/>
          </a:prstGeom>
          <a:noFill/>
        </p:spPr>
        <p:txBody>
          <a:bodyPr wrap="square" anchor="t">
            <a:spAutoFit/>
          </a:bodyPr>
          <a:lstStyle/>
          <a:p>
            <a:pPr algn="l"/>
            <a:r>
              <a:rPr sz="3200" b="1" dirty="0">
                <a:solidFill>
                  <a:srgbClr val="6B4F3A"/>
                </a:solidFill>
                <a:latin typeface="Segoe UI"/>
              </a:rPr>
              <a:t>Built for the phone</a:t>
            </a:r>
          </a:p>
        </p:txBody>
      </p:sp>
      <p:sp>
        <p:nvSpPr>
          <p:cNvPr id="4" name="TextBox 3"/>
          <p:cNvSpPr txBox="1"/>
          <p:nvPr/>
        </p:nvSpPr>
        <p:spPr>
          <a:xfrm>
            <a:off x="685800" y="1600200"/>
            <a:ext cx="10515600" cy="640080"/>
          </a:xfrm>
          <a:prstGeom prst="rect">
            <a:avLst/>
          </a:prstGeom>
          <a:noFill/>
        </p:spPr>
        <p:txBody>
          <a:bodyPr wrap="square" anchor="t">
            <a:spAutoFit/>
          </a:bodyPr>
          <a:lstStyle/>
          <a:p>
            <a:pPr algn="l"/>
            <a:r>
              <a:rPr sz="1700" b="0">
                <a:solidFill>
                  <a:srgbClr val="6E665B"/>
                </a:solidFill>
                <a:latin typeface="Segoe UI"/>
              </a:rPr>
              <a:t>Mobile-first catalog and lessons. English and Filipino. Cached reads with no AI on the learner path.</a:t>
            </a:r>
          </a:p>
        </p:txBody>
      </p:sp>
      <p:sp>
        <p:nvSpPr>
          <p:cNvPr id="5" name="Rounded Rectangle 4"/>
          <p:cNvSpPr/>
          <p:nvPr/>
        </p:nvSpPr>
        <p:spPr>
          <a:xfrm>
            <a:off x="685800" y="2331720"/>
            <a:ext cx="3291840" cy="3840480"/>
          </a:xfrm>
          <a:prstGeom prst="roundRect">
            <a:avLst/>
          </a:prstGeom>
          <a:solidFill>
            <a:srgbClr val="FFFFFF"/>
          </a:solidFill>
          <a:ln w="25400">
            <a:solidFill>
              <a:srgbClr val="4B6BF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6" name="TextBox 5"/>
          <p:cNvSpPr txBox="1"/>
          <p:nvPr/>
        </p:nvSpPr>
        <p:spPr>
          <a:xfrm>
            <a:off x="914400" y="2606040"/>
            <a:ext cx="2834640" cy="400110"/>
          </a:xfrm>
          <a:prstGeom prst="rect">
            <a:avLst/>
          </a:prstGeom>
          <a:noFill/>
        </p:spPr>
        <p:txBody>
          <a:bodyPr wrap="square" anchor="t">
            <a:spAutoFit/>
          </a:bodyPr>
          <a:lstStyle/>
          <a:p>
            <a:pPr algn="l"/>
            <a:r>
              <a:rPr sz="2000" b="1">
                <a:solidFill>
                  <a:srgbClr val="6B4F3A"/>
                </a:solidFill>
                <a:latin typeface="Segoe UI"/>
              </a:rPr>
              <a:t>Course catalog</a:t>
            </a:r>
          </a:p>
        </p:txBody>
      </p:sp>
      <p:sp>
        <p:nvSpPr>
          <p:cNvPr id="7" name="TextBox 6"/>
          <p:cNvSpPr txBox="1"/>
          <p:nvPr/>
        </p:nvSpPr>
        <p:spPr>
          <a:xfrm>
            <a:off x="914400" y="3063240"/>
            <a:ext cx="2834640" cy="2339102"/>
          </a:xfrm>
          <a:prstGeom prst="rect">
            <a:avLst/>
          </a:prstGeom>
          <a:noFill/>
        </p:spPr>
        <p:txBody>
          <a:bodyPr wrap="square" anchor="t">
            <a:spAutoFit/>
          </a:bodyPr>
          <a:lstStyle/>
          <a:p>
            <a:pPr algn="l"/>
            <a:r>
              <a:rPr b="0">
                <a:solidFill>
                  <a:srgbClr val="6E665B"/>
                </a:solidFill>
                <a:latin typeface="Segoe UI"/>
              </a:rPr>
              <a:t>Organic Rice Basics</a:t>
            </a:r>
            <a:br>
              <a:rPr sz="3200"/>
            </a:br>
            <a:r>
              <a:rPr sz="3200"/>
              <a:t>Financial Literacy 101</a:t>
            </a:r>
            <a:br>
              <a:rPr sz="3200"/>
            </a:br>
            <a:r>
              <a:rPr sz="3200"/>
              <a:t>Soil Health Module</a:t>
            </a:r>
          </a:p>
        </p:txBody>
      </p:sp>
      <p:sp>
        <p:nvSpPr>
          <p:cNvPr id="9" name="Rounded Rectangle 8"/>
          <p:cNvSpPr/>
          <p:nvPr/>
        </p:nvSpPr>
        <p:spPr>
          <a:xfrm>
            <a:off x="4251960" y="2331720"/>
            <a:ext cx="3291840" cy="3840480"/>
          </a:xfrm>
          <a:prstGeom prst="roundRect">
            <a:avLst/>
          </a:prstGeom>
          <a:solidFill>
            <a:srgbClr val="FFFFFF"/>
          </a:solidFill>
          <a:ln w="25400">
            <a:solidFill>
              <a:srgbClr val="4B6BF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10" name="TextBox 9"/>
          <p:cNvSpPr txBox="1"/>
          <p:nvPr/>
        </p:nvSpPr>
        <p:spPr>
          <a:xfrm>
            <a:off x="4480560" y="2606040"/>
            <a:ext cx="2834640" cy="400110"/>
          </a:xfrm>
          <a:prstGeom prst="rect">
            <a:avLst/>
          </a:prstGeom>
          <a:noFill/>
        </p:spPr>
        <p:txBody>
          <a:bodyPr wrap="square" anchor="t">
            <a:spAutoFit/>
          </a:bodyPr>
          <a:lstStyle/>
          <a:p>
            <a:pPr algn="l"/>
            <a:r>
              <a:rPr sz="2000" b="1">
                <a:solidFill>
                  <a:srgbClr val="6B4F3A"/>
                </a:solidFill>
                <a:latin typeface="Segoe UI"/>
              </a:rPr>
              <a:t>Lesson reader</a:t>
            </a:r>
          </a:p>
        </p:txBody>
      </p:sp>
      <p:sp>
        <p:nvSpPr>
          <p:cNvPr id="11" name="TextBox 10"/>
          <p:cNvSpPr txBox="1"/>
          <p:nvPr/>
        </p:nvSpPr>
        <p:spPr>
          <a:xfrm>
            <a:off x="4480560" y="3063240"/>
            <a:ext cx="2834640" cy="2831544"/>
          </a:xfrm>
          <a:prstGeom prst="rect">
            <a:avLst/>
          </a:prstGeom>
          <a:noFill/>
        </p:spPr>
        <p:txBody>
          <a:bodyPr wrap="square" anchor="t">
            <a:spAutoFit/>
          </a:bodyPr>
          <a:lstStyle/>
          <a:p>
            <a:pPr algn="l"/>
            <a:r>
              <a:rPr b="0">
                <a:solidFill>
                  <a:srgbClr val="6E665B"/>
                </a:solidFill>
                <a:latin typeface="Segoe UI"/>
              </a:rPr>
              <a:t>Short chunks for 3G.</a:t>
            </a:r>
            <a:br>
              <a:rPr sz="3200"/>
            </a:br>
            <a:r>
              <a:rPr sz="3200"/>
              <a:t>Readable body text.</a:t>
            </a:r>
            <a:br>
              <a:rPr sz="3200"/>
            </a:br>
            <a:r>
              <a:rPr sz="3200"/>
              <a:t>Filipino / English toggle in header.</a:t>
            </a:r>
          </a:p>
        </p:txBody>
      </p:sp>
      <p:sp>
        <p:nvSpPr>
          <p:cNvPr id="13" name="TextBox 12"/>
          <p:cNvSpPr txBox="1"/>
          <p:nvPr/>
        </p:nvSpPr>
        <p:spPr>
          <a:xfrm>
            <a:off x="7818120" y="2514600"/>
            <a:ext cx="3703320" cy="2759730"/>
          </a:xfrm>
          <a:prstGeom prst="rect">
            <a:avLst/>
          </a:prstGeom>
          <a:noFill/>
        </p:spPr>
        <p:txBody>
          <a:bodyPr wrap="square">
            <a:spAutoFit/>
          </a:bodyPr>
          <a:lstStyle/>
          <a:p>
            <a:pPr>
              <a:spcAft>
                <a:spcPts val="800"/>
              </a:spcAft>
            </a:pPr>
            <a:r>
              <a:rPr sz="2000" dirty="0">
                <a:solidFill>
                  <a:srgbClr val="241F1A"/>
                </a:solidFill>
                <a:latin typeface="Segoe UI"/>
              </a:rPr>
              <a:t>≈174 KB </a:t>
            </a:r>
            <a:r>
              <a:rPr sz="2000" dirty="0" err="1">
                <a:solidFill>
                  <a:srgbClr val="241F1A"/>
                </a:solidFill>
                <a:latin typeface="Segoe UI"/>
              </a:rPr>
              <a:t>gz</a:t>
            </a:r>
            <a:r>
              <a:rPr sz="2000" dirty="0">
                <a:solidFill>
                  <a:srgbClr val="241F1A"/>
                </a:solidFill>
                <a:latin typeface="Segoe UI"/>
              </a:rPr>
              <a:t> shared JS</a:t>
            </a:r>
            <a:br>
              <a:rPr lang="en-US" sz="2000" dirty="0">
                <a:solidFill>
                  <a:srgbClr val="241F1A"/>
                </a:solidFill>
                <a:latin typeface="Segoe UI"/>
              </a:rPr>
            </a:br>
            <a:r>
              <a:rPr sz="2000" dirty="0">
                <a:solidFill>
                  <a:srgbClr val="241F1A"/>
                </a:solidFill>
                <a:latin typeface="Segoe UI"/>
              </a:rPr>
              <a:t>(budget: 220 KB)</a:t>
            </a:r>
          </a:p>
          <a:p>
            <a:pPr>
              <a:spcAft>
                <a:spcPts val="800"/>
              </a:spcAft>
            </a:pPr>
            <a:br>
              <a:rPr lang="en-US" sz="2000" dirty="0">
                <a:solidFill>
                  <a:srgbClr val="241F1A"/>
                </a:solidFill>
                <a:latin typeface="Segoe UI"/>
              </a:rPr>
            </a:br>
            <a:r>
              <a:rPr sz="2000" dirty="0">
                <a:solidFill>
                  <a:srgbClr val="241F1A"/>
                </a:solidFill>
                <a:latin typeface="Segoe UI"/>
              </a:rPr>
              <a:t>Seed → Sprout → Scholar → Expert → Mentor levels</a:t>
            </a:r>
          </a:p>
          <a:p>
            <a:pPr>
              <a:spcAft>
                <a:spcPts val="800"/>
              </a:spcAft>
            </a:pPr>
            <a:br>
              <a:rPr lang="en-US" sz="2000" dirty="0">
                <a:solidFill>
                  <a:srgbClr val="241F1A"/>
                </a:solidFill>
                <a:latin typeface="Segoe UI"/>
              </a:rPr>
            </a:br>
            <a:r>
              <a:rPr sz="2000" dirty="0">
                <a:solidFill>
                  <a:srgbClr val="241F1A"/>
                </a:solidFill>
                <a:latin typeface="Segoe UI"/>
              </a:rPr>
              <a:t>Roadmap: quizzes, XP bar, credential wallet</a:t>
            </a:r>
          </a:p>
        </p:txBody>
      </p:sp>
      <p:sp>
        <p:nvSpPr>
          <p:cNvPr id="14" name="TextBox 13"/>
          <p:cNvSpPr txBox="1"/>
          <p:nvPr/>
        </p:nvSpPr>
        <p:spPr>
          <a:xfrm>
            <a:off x="548640" y="6446520"/>
            <a:ext cx="4572000" cy="320040"/>
          </a:xfrm>
          <a:prstGeom prst="rect">
            <a:avLst/>
          </a:prstGeom>
          <a:noFill/>
        </p:spPr>
        <p:txBody>
          <a:bodyPr wrap="square" anchor="t">
            <a:spAutoFit/>
          </a:bodyPr>
          <a:lstStyle/>
          <a:p>
            <a:pPr algn="l"/>
            <a:r>
              <a:rPr sz="1000" b="0">
                <a:solidFill>
                  <a:srgbClr val="6E665B"/>
                </a:solidFill>
                <a:latin typeface="Segoe UI"/>
              </a:rPr>
              <a:t>ANISKWELA  ·  Axon Enjin</a:t>
            </a:r>
          </a:p>
        </p:txBody>
      </p:sp>
      <p:sp>
        <p:nvSpPr>
          <p:cNvPr id="15" name="TextBox 14"/>
          <p:cNvSpPr txBox="1"/>
          <p:nvPr/>
        </p:nvSpPr>
        <p:spPr>
          <a:xfrm>
            <a:off x="9601200" y="6446520"/>
            <a:ext cx="2103120" cy="320040"/>
          </a:xfrm>
          <a:prstGeom prst="rect">
            <a:avLst/>
          </a:prstGeom>
          <a:noFill/>
        </p:spPr>
        <p:txBody>
          <a:bodyPr wrap="square" anchor="t">
            <a:spAutoFit/>
          </a:bodyPr>
          <a:lstStyle/>
          <a:p>
            <a:pPr algn="r"/>
            <a:r>
              <a:t>Grant partner deck  ·  5/11</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BF8F2"/>
        </a:solidFill>
        <a:effectLst/>
      </p:bgPr>
    </p:bg>
    <p:spTree>
      <p:nvGrpSpPr>
        <p:cNvPr id="1" name=""/>
        <p:cNvGrpSpPr/>
        <p:nvPr/>
      </p:nvGrpSpPr>
      <p:grpSpPr>
        <a:xfrm>
          <a:off x="0" y="0"/>
          <a:ext cx="0" cy="0"/>
          <a:chOff x="0" y="0"/>
          <a:chExt cx="0" cy="0"/>
        </a:xfrm>
      </p:grpSpPr>
      <p:sp>
        <p:nvSpPr>
          <p:cNvPr id="3" name="TextBox 2"/>
          <p:cNvSpPr txBox="1"/>
          <p:nvPr/>
        </p:nvSpPr>
        <p:spPr>
          <a:xfrm>
            <a:off x="685800" y="868680"/>
            <a:ext cx="10515600" cy="1077218"/>
          </a:xfrm>
          <a:prstGeom prst="rect">
            <a:avLst/>
          </a:prstGeom>
          <a:noFill/>
        </p:spPr>
        <p:txBody>
          <a:bodyPr wrap="square" anchor="t">
            <a:spAutoFit/>
          </a:bodyPr>
          <a:lstStyle/>
          <a:p>
            <a:pPr algn="l"/>
            <a:r>
              <a:rPr sz="3200" b="1" dirty="0">
                <a:solidFill>
                  <a:srgbClr val="6B4F3A"/>
                </a:solidFill>
                <a:latin typeface="Segoe UI"/>
              </a:rPr>
              <a:t>Teachers publish in an afternoon.</a:t>
            </a:r>
            <a:br>
              <a:rPr lang="en-US" sz="3200" b="1" dirty="0">
                <a:solidFill>
                  <a:srgbClr val="6B4F3A"/>
                </a:solidFill>
                <a:latin typeface="Segoe UI"/>
              </a:rPr>
            </a:br>
            <a:r>
              <a:rPr sz="3200" b="1" dirty="0">
                <a:solidFill>
                  <a:srgbClr val="6B4F3A"/>
                </a:solidFill>
                <a:latin typeface="Segoe UI"/>
              </a:rPr>
              <a:t>Funders get criteria they can audit.</a:t>
            </a:r>
          </a:p>
        </p:txBody>
      </p:sp>
      <p:sp>
        <p:nvSpPr>
          <p:cNvPr id="4" name="TextBox 3"/>
          <p:cNvSpPr txBox="1"/>
          <p:nvPr/>
        </p:nvSpPr>
        <p:spPr>
          <a:xfrm>
            <a:off x="685800" y="1991618"/>
            <a:ext cx="10515600" cy="640080"/>
          </a:xfrm>
          <a:prstGeom prst="rect">
            <a:avLst/>
          </a:prstGeom>
          <a:noFill/>
        </p:spPr>
        <p:txBody>
          <a:bodyPr wrap="square" anchor="t">
            <a:spAutoFit/>
          </a:bodyPr>
          <a:lstStyle/>
          <a:p>
            <a:pPr algn="l"/>
            <a:r>
              <a:rPr sz="1700" b="0">
                <a:solidFill>
                  <a:srgbClr val="6E665B"/>
                </a:solidFill>
                <a:latin typeface="Segoe UI"/>
              </a:rPr>
              <a:t>Upload and generate is live today. The funder eligibility console is specified and schema-ready.</a:t>
            </a:r>
          </a:p>
        </p:txBody>
      </p:sp>
      <p:sp>
        <p:nvSpPr>
          <p:cNvPr id="7" name="TextBox 6"/>
          <p:cNvSpPr txBox="1"/>
          <p:nvPr/>
        </p:nvSpPr>
        <p:spPr>
          <a:xfrm>
            <a:off x="548640" y="6446520"/>
            <a:ext cx="4572000" cy="320040"/>
          </a:xfrm>
          <a:prstGeom prst="rect">
            <a:avLst/>
          </a:prstGeom>
          <a:noFill/>
        </p:spPr>
        <p:txBody>
          <a:bodyPr wrap="square" anchor="t">
            <a:spAutoFit/>
          </a:bodyPr>
          <a:lstStyle/>
          <a:p>
            <a:pPr algn="l"/>
            <a:r>
              <a:rPr sz="1000" b="0">
                <a:solidFill>
                  <a:srgbClr val="6E665B"/>
                </a:solidFill>
                <a:latin typeface="Segoe UI"/>
              </a:rPr>
              <a:t>ANISKWELA  ·  Axon Enjin</a:t>
            </a:r>
          </a:p>
        </p:txBody>
      </p:sp>
      <p:sp>
        <p:nvSpPr>
          <p:cNvPr id="8" name="TextBox 7"/>
          <p:cNvSpPr txBox="1"/>
          <p:nvPr/>
        </p:nvSpPr>
        <p:spPr>
          <a:xfrm>
            <a:off x="9601200" y="6446520"/>
            <a:ext cx="2103120" cy="320040"/>
          </a:xfrm>
          <a:prstGeom prst="rect">
            <a:avLst/>
          </a:prstGeom>
          <a:noFill/>
        </p:spPr>
        <p:txBody>
          <a:bodyPr wrap="square" anchor="t">
            <a:spAutoFit/>
          </a:bodyPr>
          <a:lstStyle/>
          <a:p>
            <a:pPr algn="r"/>
            <a:r>
              <a:t>Grant partner deck  ·  6/11</a:t>
            </a:r>
          </a:p>
        </p:txBody>
      </p:sp>
      <p:pic>
        <p:nvPicPr>
          <p:cNvPr id="10" name="Picture 9">
            <a:extLst>
              <a:ext uri="{FF2B5EF4-FFF2-40B4-BE49-F238E27FC236}">
                <a16:creationId xmlns:a16="http://schemas.microsoft.com/office/drawing/2014/main" id="{666C0058-6276-427F-828B-651EC2344DE8}"/>
              </a:ext>
            </a:extLst>
          </p:cNvPr>
          <p:cNvPicPr>
            <a:picLocks noChangeAspect="1"/>
          </p:cNvPicPr>
          <p:nvPr/>
        </p:nvPicPr>
        <p:blipFill>
          <a:blip r:embed="rId3"/>
          <a:stretch>
            <a:fillRect/>
          </a:stretch>
        </p:blipFill>
        <p:spPr>
          <a:xfrm>
            <a:off x="4381500" y="2631698"/>
            <a:ext cx="3429000" cy="3429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BF8F2"/>
        </a:solidFill>
        <a:effectLst/>
      </p:bgPr>
    </p:bg>
    <p:spTree>
      <p:nvGrpSpPr>
        <p:cNvPr id="1" name=""/>
        <p:cNvGrpSpPr/>
        <p:nvPr/>
      </p:nvGrpSpPr>
      <p:grpSpPr>
        <a:xfrm>
          <a:off x="0" y="0"/>
          <a:ext cx="0" cy="0"/>
          <a:chOff x="0" y="0"/>
          <a:chExt cx="0" cy="0"/>
        </a:xfrm>
      </p:grpSpPr>
      <p:sp>
        <p:nvSpPr>
          <p:cNvPr id="2" name="TextBox 1"/>
          <p:cNvSpPr txBox="1"/>
          <p:nvPr/>
        </p:nvSpPr>
        <p:spPr>
          <a:xfrm>
            <a:off x="685800" y="502920"/>
            <a:ext cx="3657600" cy="320040"/>
          </a:xfrm>
          <a:prstGeom prst="rect">
            <a:avLst/>
          </a:prstGeom>
          <a:noFill/>
        </p:spPr>
        <p:txBody>
          <a:bodyPr wrap="square" anchor="t">
            <a:spAutoFit/>
          </a:bodyPr>
          <a:lstStyle/>
          <a:p>
            <a:pPr algn="l"/>
            <a:r>
              <a:rPr sz="1100" b="1">
                <a:solidFill>
                  <a:srgbClr val="3F8E5B"/>
                </a:solidFill>
                <a:latin typeface="Segoe UI"/>
              </a:rPr>
              <a:t>HOW IT WORKS</a:t>
            </a:r>
          </a:p>
        </p:txBody>
      </p:sp>
      <p:sp>
        <p:nvSpPr>
          <p:cNvPr id="3" name="TextBox 2"/>
          <p:cNvSpPr txBox="1"/>
          <p:nvPr/>
        </p:nvSpPr>
        <p:spPr>
          <a:xfrm>
            <a:off x="685800" y="868680"/>
            <a:ext cx="10515600" cy="822960"/>
          </a:xfrm>
          <a:prstGeom prst="rect">
            <a:avLst/>
          </a:prstGeom>
          <a:noFill/>
        </p:spPr>
        <p:txBody>
          <a:bodyPr wrap="square" anchor="t">
            <a:spAutoFit/>
          </a:bodyPr>
          <a:lstStyle/>
          <a:p>
            <a:pPr algn="l"/>
            <a:r>
              <a:rPr sz="3200" b="1">
                <a:solidFill>
                  <a:srgbClr val="6B4F3A"/>
                </a:solidFill>
                <a:latin typeface="Segoe UI"/>
              </a:rPr>
              <a:t>From document to anchored credential.</a:t>
            </a:r>
          </a:p>
        </p:txBody>
      </p:sp>
      <p:sp>
        <p:nvSpPr>
          <p:cNvPr id="4" name="TextBox 3"/>
          <p:cNvSpPr txBox="1"/>
          <p:nvPr/>
        </p:nvSpPr>
        <p:spPr>
          <a:xfrm>
            <a:off x="685800" y="1600200"/>
            <a:ext cx="10515600" cy="640080"/>
          </a:xfrm>
          <a:prstGeom prst="rect">
            <a:avLst/>
          </a:prstGeom>
          <a:noFill/>
        </p:spPr>
        <p:txBody>
          <a:bodyPr wrap="square" anchor="t">
            <a:spAutoFit/>
          </a:bodyPr>
          <a:lstStyle/>
          <a:p>
            <a:pPr algn="l"/>
            <a:r>
              <a:rPr sz="1700" b="0">
                <a:solidFill>
                  <a:srgbClr val="6E665B"/>
                </a:solidFill>
                <a:latin typeface="Segoe UI"/>
              </a:rPr>
              <a:t>AI runs once per course. Learners never wait on a model when they open a lesson.</a:t>
            </a:r>
          </a:p>
        </p:txBody>
      </p:sp>
      <p:sp>
        <p:nvSpPr>
          <p:cNvPr id="5" name="Rounded Rectangle 4"/>
          <p:cNvSpPr/>
          <p:nvPr/>
        </p:nvSpPr>
        <p:spPr>
          <a:xfrm>
            <a:off x="502920" y="2606040"/>
            <a:ext cx="1691640" cy="1417320"/>
          </a:xfrm>
          <a:prstGeom prst="roundRect">
            <a:avLst/>
          </a:prstGeom>
          <a:solidFill>
            <a:srgbClr val="FFFFFF"/>
          </a:solidFill>
          <a:ln w="12700">
            <a:solidFill>
              <a:srgbClr val="E7E0D3"/>
            </a:solidFill>
          </a:ln>
        </p:spPr>
        <p:style>
          <a:lnRef idx="1">
            <a:schemeClr val="accent1"/>
          </a:lnRef>
          <a:fillRef idx="3">
            <a:schemeClr val="accent1"/>
          </a:fillRef>
          <a:effectRef idx="2">
            <a:schemeClr val="accent1"/>
          </a:effectRef>
          <a:fontRef idx="minor">
            <a:schemeClr val="lt1"/>
          </a:fontRef>
        </p:style>
        <p:txBody>
          <a:bodyPr wrap="square" lIns="137160" tIns="109728" rIns="137160" bIns="91440" rtlCol="0" anchor="ctr"/>
          <a:lstStyle/>
          <a:p>
            <a:pPr>
              <a:spcAft>
                <a:spcPts val="400"/>
              </a:spcAft>
            </a:pPr>
            <a:r>
              <a:rPr sz="1000" b="1" dirty="0">
                <a:solidFill>
                  <a:srgbClr val="3F8E5B"/>
                </a:solidFill>
                <a:latin typeface="Segoe UI"/>
              </a:rPr>
              <a:t>1</a:t>
            </a:r>
          </a:p>
          <a:p>
            <a:pPr>
              <a:spcAft>
                <a:spcPts val="600"/>
              </a:spcAft>
            </a:pPr>
            <a:r>
              <a:rPr sz="1600" b="1" dirty="0">
                <a:solidFill>
                  <a:srgbClr val="6B4F3A"/>
                </a:solidFill>
                <a:latin typeface="Segoe UI"/>
              </a:rPr>
              <a:t>Upload</a:t>
            </a:r>
          </a:p>
          <a:p>
            <a:r>
              <a:rPr sz="1200" dirty="0">
                <a:solidFill>
                  <a:srgbClr val="6E665B"/>
                </a:solidFill>
                <a:latin typeface="Segoe UI"/>
              </a:rPr>
              <a:t>Teacher sends PDF or doc.</a:t>
            </a:r>
          </a:p>
        </p:txBody>
      </p:sp>
      <p:sp>
        <p:nvSpPr>
          <p:cNvPr id="6" name="Rounded Rectangle 5"/>
          <p:cNvSpPr/>
          <p:nvPr/>
        </p:nvSpPr>
        <p:spPr>
          <a:xfrm>
            <a:off x="2377439" y="2606040"/>
            <a:ext cx="1691640" cy="1417320"/>
          </a:xfrm>
          <a:prstGeom prst="roundRect">
            <a:avLst/>
          </a:prstGeom>
          <a:solidFill>
            <a:srgbClr val="FFFFFF"/>
          </a:solidFill>
          <a:ln w="12700">
            <a:solidFill>
              <a:srgbClr val="E7E0D3"/>
            </a:solidFill>
          </a:ln>
        </p:spPr>
        <p:style>
          <a:lnRef idx="1">
            <a:schemeClr val="accent1"/>
          </a:lnRef>
          <a:fillRef idx="3">
            <a:schemeClr val="accent1"/>
          </a:fillRef>
          <a:effectRef idx="2">
            <a:schemeClr val="accent1"/>
          </a:effectRef>
          <a:fontRef idx="minor">
            <a:schemeClr val="lt1"/>
          </a:fontRef>
        </p:style>
        <p:txBody>
          <a:bodyPr wrap="square" lIns="137160" tIns="109728" rIns="137160" bIns="91440" rtlCol="0" anchor="ctr"/>
          <a:lstStyle/>
          <a:p>
            <a:pPr>
              <a:spcAft>
                <a:spcPts val="400"/>
              </a:spcAft>
            </a:pPr>
            <a:r>
              <a:rPr sz="1000" b="1" dirty="0">
                <a:solidFill>
                  <a:srgbClr val="3F8E5B"/>
                </a:solidFill>
                <a:latin typeface="Segoe UI"/>
              </a:rPr>
              <a:t>2</a:t>
            </a:r>
          </a:p>
          <a:p>
            <a:pPr>
              <a:spcAft>
                <a:spcPts val="600"/>
              </a:spcAft>
            </a:pPr>
            <a:r>
              <a:rPr sz="1600" b="1" dirty="0">
                <a:solidFill>
                  <a:srgbClr val="6B4F3A"/>
                </a:solidFill>
                <a:latin typeface="Segoe UI"/>
              </a:rPr>
              <a:t>Generate</a:t>
            </a:r>
          </a:p>
          <a:p>
            <a:r>
              <a:rPr sz="1200" dirty="0">
                <a:solidFill>
                  <a:srgbClr val="6E665B"/>
                </a:solidFill>
                <a:latin typeface="Segoe UI"/>
              </a:rPr>
              <a:t>Azure AI Foundry drafts structure.</a:t>
            </a:r>
          </a:p>
        </p:txBody>
      </p:sp>
      <p:sp>
        <p:nvSpPr>
          <p:cNvPr id="7" name="Rounded Rectangle 6"/>
          <p:cNvSpPr/>
          <p:nvPr/>
        </p:nvSpPr>
        <p:spPr>
          <a:xfrm>
            <a:off x="4251959" y="2606040"/>
            <a:ext cx="1691640" cy="1417320"/>
          </a:xfrm>
          <a:prstGeom prst="roundRect">
            <a:avLst/>
          </a:prstGeom>
          <a:solidFill>
            <a:srgbClr val="FFFFFF"/>
          </a:solidFill>
          <a:ln w="12700">
            <a:solidFill>
              <a:srgbClr val="E7E0D3"/>
            </a:solidFill>
          </a:ln>
        </p:spPr>
        <p:style>
          <a:lnRef idx="1">
            <a:schemeClr val="accent1"/>
          </a:lnRef>
          <a:fillRef idx="3">
            <a:schemeClr val="accent1"/>
          </a:fillRef>
          <a:effectRef idx="2">
            <a:schemeClr val="accent1"/>
          </a:effectRef>
          <a:fontRef idx="minor">
            <a:schemeClr val="lt1"/>
          </a:fontRef>
        </p:style>
        <p:txBody>
          <a:bodyPr wrap="square" lIns="137160" tIns="109728" rIns="137160" bIns="91440" rtlCol="0" anchor="ctr"/>
          <a:lstStyle/>
          <a:p>
            <a:pPr>
              <a:spcAft>
                <a:spcPts val="400"/>
              </a:spcAft>
            </a:pPr>
            <a:r>
              <a:rPr sz="1000" b="1" dirty="0">
                <a:solidFill>
                  <a:srgbClr val="3F8E5B"/>
                </a:solidFill>
                <a:latin typeface="Segoe UI"/>
              </a:rPr>
              <a:t>3</a:t>
            </a:r>
          </a:p>
          <a:p>
            <a:pPr>
              <a:spcAft>
                <a:spcPts val="600"/>
              </a:spcAft>
            </a:pPr>
            <a:r>
              <a:rPr sz="1600" b="1" dirty="0">
                <a:solidFill>
                  <a:srgbClr val="6B4F3A"/>
                </a:solidFill>
                <a:latin typeface="Segoe UI"/>
              </a:rPr>
              <a:t>Review</a:t>
            </a:r>
          </a:p>
          <a:p>
            <a:r>
              <a:rPr sz="1200" dirty="0">
                <a:solidFill>
                  <a:srgbClr val="6E665B"/>
                </a:solidFill>
                <a:latin typeface="Segoe UI"/>
              </a:rPr>
              <a:t>Teacher edits and publishes.</a:t>
            </a:r>
          </a:p>
        </p:txBody>
      </p:sp>
      <p:sp>
        <p:nvSpPr>
          <p:cNvPr id="8" name="Rounded Rectangle 7"/>
          <p:cNvSpPr/>
          <p:nvPr/>
        </p:nvSpPr>
        <p:spPr>
          <a:xfrm>
            <a:off x="6126479" y="2606040"/>
            <a:ext cx="1691640" cy="1417320"/>
          </a:xfrm>
          <a:prstGeom prst="roundRect">
            <a:avLst/>
          </a:prstGeom>
          <a:solidFill>
            <a:srgbClr val="FFFFFF"/>
          </a:solidFill>
          <a:ln w="12700">
            <a:solidFill>
              <a:srgbClr val="E7E0D3"/>
            </a:solidFill>
          </a:ln>
        </p:spPr>
        <p:style>
          <a:lnRef idx="1">
            <a:schemeClr val="accent1"/>
          </a:lnRef>
          <a:fillRef idx="3">
            <a:schemeClr val="accent1"/>
          </a:fillRef>
          <a:effectRef idx="2">
            <a:schemeClr val="accent1"/>
          </a:effectRef>
          <a:fontRef idx="minor">
            <a:schemeClr val="lt1"/>
          </a:fontRef>
        </p:style>
        <p:txBody>
          <a:bodyPr wrap="square" lIns="137160" tIns="109728" rIns="137160" bIns="91440" rtlCol="0" anchor="ctr"/>
          <a:lstStyle/>
          <a:p>
            <a:pPr>
              <a:spcAft>
                <a:spcPts val="400"/>
              </a:spcAft>
            </a:pPr>
            <a:r>
              <a:rPr sz="1000" b="1" dirty="0">
                <a:solidFill>
                  <a:srgbClr val="3F8E5B"/>
                </a:solidFill>
                <a:latin typeface="Segoe UI"/>
              </a:rPr>
              <a:t>4</a:t>
            </a:r>
          </a:p>
          <a:p>
            <a:pPr>
              <a:spcAft>
                <a:spcPts val="600"/>
              </a:spcAft>
            </a:pPr>
            <a:r>
              <a:rPr sz="1600" b="1" dirty="0">
                <a:solidFill>
                  <a:srgbClr val="6B4F3A"/>
                </a:solidFill>
                <a:latin typeface="Segoe UI"/>
              </a:rPr>
              <a:t>Learn</a:t>
            </a:r>
          </a:p>
          <a:p>
            <a:r>
              <a:rPr sz="1200" dirty="0">
                <a:solidFill>
                  <a:srgbClr val="6E665B"/>
                </a:solidFill>
                <a:latin typeface="Segoe UI"/>
              </a:rPr>
              <a:t>Learner completes lessons and quizzes.</a:t>
            </a:r>
          </a:p>
        </p:txBody>
      </p:sp>
      <p:sp>
        <p:nvSpPr>
          <p:cNvPr id="9" name="Rounded Rectangle 8"/>
          <p:cNvSpPr/>
          <p:nvPr/>
        </p:nvSpPr>
        <p:spPr>
          <a:xfrm>
            <a:off x="8000999" y="2606040"/>
            <a:ext cx="1691640" cy="1417320"/>
          </a:xfrm>
          <a:prstGeom prst="roundRect">
            <a:avLst/>
          </a:prstGeom>
          <a:solidFill>
            <a:srgbClr val="FFFFFF"/>
          </a:solidFill>
          <a:ln w="12700">
            <a:solidFill>
              <a:srgbClr val="E7E0D3"/>
            </a:solidFill>
          </a:ln>
        </p:spPr>
        <p:style>
          <a:lnRef idx="1">
            <a:schemeClr val="accent1"/>
          </a:lnRef>
          <a:fillRef idx="3">
            <a:schemeClr val="accent1"/>
          </a:fillRef>
          <a:effectRef idx="2">
            <a:schemeClr val="accent1"/>
          </a:effectRef>
          <a:fontRef idx="minor">
            <a:schemeClr val="lt1"/>
          </a:fontRef>
        </p:style>
        <p:txBody>
          <a:bodyPr wrap="square" lIns="137160" tIns="109728" rIns="137160" bIns="91440" rtlCol="0" anchor="ctr"/>
          <a:lstStyle/>
          <a:p>
            <a:pPr>
              <a:spcAft>
                <a:spcPts val="400"/>
              </a:spcAft>
            </a:pPr>
            <a:r>
              <a:rPr sz="1000" b="1" dirty="0">
                <a:solidFill>
                  <a:srgbClr val="3F8E5B"/>
                </a:solidFill>
                <a:latin typeface="Segoe UI"/>
              </a:rPr>
              <a:t>5</a:t>
            </a:r>
          </a:p>
          <a:p>
            <a:pPr>
              <a:spcAft>
                <a:spcPts val="600"/>
              </a:spcAft>
            </a:pPr>
            <a:r>
              <a:rPr sz="1600" b="1" dirty="0">
                <a:solidFill>
                  <a:srgbClr val="6B4F3A"/>
                </a:solidFill>
                <a:latin typeface="Segoe UI"/>
              </a:rPr>
              <a:t>Credential</a:t>
            </a:r>
          </a:p>
          <a:p>
            <a:r>
              <a:rPr sz="1200" dirty="0">
                <a:solidFill>
                  <a:srgbClr val="6E665B"/>
                </a:solidFill>
                <a:latin typeface="Segoe UI"/>
              </a:rPr>
              <a:t>Platform issues signed W3C VC.</a:t>
            </a:r>
          </a:p>
        </p:txBody>
      </p:sp>
      <p:sp>
        <p:nvSpPr>
          <p:cNvPr id="10" name="Rounded Rectangle 9"/>
          <p:cNvSpPr/>
          <p:nvPr/>
        </p:nvSpPr>
        <p:spPr>
          <a:xfrm>
            <a:off x="9875520" y="2606040"/>
            <a:ext cx="1691640" cy="1417320"/>
          </a:xfrm>
          <a:prstGeom prst="roundRect">
            <a:avLst/>
          </a:prstGeom>
          <a:solidFill>
            <a:srgbClr val="FFFFFF"/>
          </a:solidFill>
          <a:ln w="12700">
            <a:solidFill>
              <a:srgbClr val="E7E0D3"/>
            </a:solidFill>
          </a:ln>
        </p:spPr>
        <p:style>
          <a:lnRef idx="1">
            <a:schemeClr val="accent1"/>
          </a:lnRef>
          <a:fillRef idx="3">
            <a:schemeClr val="accent1"/>
          </a:fillRef>
          <a:effectRef idx="2">
            <a:schemeClr val="accent1"/>
          </a:effectRef>
          <a:fontRef idx="minor">
            <a:schemeClr val="lt1"/>
          </a:fontRef>
        </p:style>
        <p:txBody>
          <a:bodyPr wrap="square" lIns="137160" tIns="109728" rIns="137160" bIns="91440" rtlCol="0" anchor="ctr"/>
          <a:lstStyle/>
          <a:p>
            <a:pPr>
              <a:spcAft>
                <a:spcPts val="400"/>
              </a:spcAft>
            </a:pPr>
            <a:r>
              <a:rPr sz="1000" b="1" dirty="0">
                <a:solidFill>
                  <a:srgbClr val="3F8E5B"/>
                </a:solidFill>
                <a:latin typeface="Segoe UI"/>
              </a:rPr>
              <a:t>6</a:t>
            </a:r>
          </a:p>
          <a:p>
            <a:pPr>
              <a:spcAft>
                <a:spcPts val="600"/>
              </a:spcAft>
            </a:pPr>
            <a:r>
              <a:rPr sz="1600" b="1" dirty="0">
                <a:solidFill>
                  <a:srgbClr val="6B4F3A"/>
                </a:solidFill>
                <a:latin typeface="Segoe UI"/>
              </a:rPr>
              <a:t>Anchor</a:t>
            </a:r>
          </a:p>
          <a:p>
            <a:r>
              <a:rPr sz="1200" dirty="0">
                <a:solidFill>
                  <a:srgbClr val="6E665B"/>
                </a:solidFill>
                <a:latin typeface="Segoe UI"/>
              </a:rPr>
              <a:t>Hash recorded on Stellar </a:t>
            </a:r>
            <a:r>
              <a:rPr sz="1200" dirty="0" err="1">
                <a:solidFill>
                  <a:srgbClr val="6E665B"/>
                </a:solidFill>
                <a:latin typeface="Segoe UI"/>
              </a:rPr>
              <a:t>Testnet</a:t>
            </a:r>
            <a:r>
              <a:rPr sz="1200" dirty="0">
                <a:solidFill>
                  <a:srgbClr val="6E665B"/>
                </a:solidFill>
                <a:latin typeface="Segoe UI"/>
              </a:rPr>
              <a:t>.</a:t>
            </a:r>
          </a:p>
        </p:txBody>
      </p:sp>
      <p:sp>
        <p:nvSpPr>
          <p:cNvPr id="11" name="Rounded Rectangle 10"/>
          <p:cNvSpPr/>
          <p:nvPr/>
        </p:nvSpPr>
        <p:spPr>
          <a:xfrm>
            <a:off x="685800" y="4572000"/>
            <a:ext cx="10881360" cy="1234440"/>
          </a:xfrm>
          <a:prstGeom prst="roundRect">
            <a:avLst/>
          </a:prstGeom>
          <a:solidFill>
            <a:srgbClr val="FFFFFF"/>
          </a:solidFill>
          <a:ln w="12700">
            <a:solidFill>
              <a:srgbClr val="E7E0D3"/>
            </a:solidFill>
          </a:ln>
        </p:spPr>
        <p:style>
          <a:lnRef idx="1">
            <a:schemeClr val="accent1"/>
          </a:lnRef>
          <a:fillRef idx="3">
            <a:schemeClr val="accent1"/>
          </a:fillRef>
          <a:effectRef idx="2">
            <a:schemeClr val="accent1"/>
          </a:effectRef>
          <a:fontRef idx="minor">
            <a:schemeClr val="lt1"/>
          </a:fontRef>
        </p:style>
        <p:txBody>
          <a:bodyPr wrap="square" lIns="137160" tIns="109728" rIns="137160" bIns="91440" rtlCol="0" anchor="ctr"/>
          <a:lstStyle/>
          <a:p>
            <a:pPr algn="ctr">
              <a:spcAft>
                <a:spcPts val="600"/>
              </a:spcAft>
            </a:pPr>
            <a:r>
              <a:rPr sz="3200" b="1" dirty="0">
                <a:solidFill>
                  <a:srgbClr val="6B4F3A"/>
                </a:solidFill>
                <a:latin typeface="Segoe UI"/>
              </a:rPr>
              <a:t>Human in the loop</a:t>
            </a:r>
          </a:p>
          <a:p>
            <a:pPr algn="ctr"/>
            <a:r>
              <a:rPr sz="2400" dirty="0">
                <a:solidFill>
                  <a:srgbClr val="6E665B"/>
                </a:solidFill>
                <a:latin typeface="Segoe UI"/>
              </a:rPr>
              <a:t>Mandatory teacher review before any course goes live.</a:t>
            </a:r>
          </a:p>
        </p:txBody>
      </p:sp>
      <p:sp>
        <p:nvSpPr>
          <p:cNvPr id="13" name="TextBox 12"/>
          <p:cNvSpPr txBox="1"/>
          <p:nvPr/>
        </p:nvSpPr>
        <p:spPr>
          <a:xfrm>
            <a:off x="548640" y="6446520"/>
            <a:ext cx="4572000" cy="320040"/>
          </a:xfrm>
          <a:prstGeom prst="rect">
            <a:avLst/>
          </a:prstGeom>
          <a:noFill/>
        </p:spPr>
        <p:txBody>
          <a:bodyPr wrap="square" anchor="t">
            <a:spAutoFit/>
          </a:bodyPr>
          <a:lstStyle/>
          <a:p>
            <a:pPr algn="l"/>
            <a:r>
              <a:rPr sz="1000" b="0">
                <a:solidFill>
                  <a:srgbClr val="6E665B"/>
                </a:solidFill>
                <a:latin typeface="Segoe UI"/>
              </a:rPr>
              <a:t>ANISKWELA  ·  Axon Enjin</a:t>
            </a:r>
          </a:p>
        </p:txBody>
      </p:sp>
      <p:sp>
        <p:nvSpPr>
          <p:cNvPr id="14" name="TextBox 13"/>
          <p:cNvSpPr txBox="1"/>
          <p:nvPr/>
        </p:nvSpPr>
        <p:spPr>
          <a:xfrm>
            <a:off x="9601200" y="6446520"/>
            <a:ext cx="2103120" cy="320040"/>
          </a:xfrm>
          <a:prstGeom prst="rect">
            <a:avLst/>
          </a:prstGeom>
          <a:noFill/>
        </p:spPr>
        <p:txBody>
          <a:bodyPr wrap="square" anchor="t">
            <a:spAutoFit/>
          </a:bodyPr>
          <a:lstStyle/>
          <a:p>
            <a:pPr algn="r"/>
            <a:r>
              <a:t>Grant partner deck  ·  7/11</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BF8F2"/>
        </a:solidFill>
        <a:effectLst/>
      </p:bgPr>
    </p:bg>
    <p:spTree>
      <p:nvGrpSpPr>
        <p:cNvPr id="1" name=""/>
        <p:cNvGrpSpPr/>
        <p:nvPr/>
      </p:nvGrpSpPr>
      <p:grpSpPr>
        <a:xfrm>
          <a:off x="0" y="0"/>
          <a:ext cx="0" cy="0"/>
          <a:chOff x="0" y="0"/>
          <a:chExt cx="0" cy="0"/>
        </a:xfrm>
      </p:grpSpPr>
      <p:sp>
        <p:nvSpPr>
          <p:cNvPr id="2" name="TextBox 1"/>
          <p:cNvSpPr txBox="1"/>
          <p:nvPr/>
        </p:nvSpPr>
        <p:spPr>
          <a:xfrm>
            <a:off x="685800" y="502920"/>
            <a:ext cx="3657600" cy="320040"/>
          </a:xfrm>
          <a:prstGeom prst="rect">
            <a:avLst/>
          </a:prstGeom>
          <a:noFill/>
        </p:spPr>
        <p:txBody>
          <a:bodyPr wrap="square" anchor="t">
            <a:spAutoFit/>
          </a:bodyPr>
          <a:lstStyle/>
          <a:p>
            <a:pPr algn="l"/>
            <a:r>
              <a:rPr sz="1100" b="1">
                <a:solidFill>
                  <a:srgbClr val="3F8E5B"/>
                </a:solidFill>
                <a:latin typeface="Segoe UI"/>
              </a:rPr>
              <a:t>TRUST LAYER</a:t>
            </a:r>
          </a:p>
        </p:txBody>
      </p:sp>
      <p:sp>
        <p:nvSpPr>
          <p:cNvPr id="3" name="TextBox 2"/>
          <p:cNvSpPr txBox="1"/>
          <p:nvPr/>
        </p:nvSpPr>
        <p:spPr>
          <a:xfrm>
            <a:off x="685800" y="868680"/>
            <a:ext cx="10515600" cy="822960"/>
          </a:xfrm>
          <a:prstGeom prst="rect">
            <a:avLst/>
          </a:prstGeom>
          <a:noFill/>
        </p:spPr>
        <p:txBody>
          <a:bodyPr wrap="square" anchor="t">
            <a:spAutoFit/>
          </a:bodyPr>
          <a:lstStyle/>
          <a:p>
            <a:pPr algn="l"/>
            <a:r>
              <a:rPr sz="3200" b="1">
                <a:solidFill>
                  <a:srgbClr val="6B4F3A"/>
                </a:solidFill>
                <a:latin typeface="Segoe UI"/>
              </a:rPr>
              <a:t>Merit ledger plus verifiable credentials.</a:t>
            </a:r>
          </a:p>
        </p:txBody>
      </p:sp>
      <p:sp>
        <p:nvSpPr>
          <p:cNvPr id="4" name="TextBox 3"/>
          <p:cNvSpPr txBox="1"/>
          <p:nvPr/>
        </p:nvSpPr>
        <p:spPr>
          <a:xfrm>
            <a:off x="685800" y="1600200"/>
            <a:ext cx="10515600" cy="640080"/>
          </a:xfrm>
          <a:prstGeom prst="rect">
            <a:avLst/>
          </a:prstGeom>
          <a:noFill/>
        </p:spPr>
        <p:txBody>
          <a:bodyPr wrap="square" anchor="t">
            <a:spAutoFit/>
          </a:bodyPr>
          <a:lstStyle/>
          <a:p>
            <a:pPr algn="l"/>
            <a:r>
              <a:rPr sz="1700" b="0">
                <a:solidFill>
                  <a:srgbClr val="6E665B"/>
                </a:solidFill>
                <a:latin typeface="Segoe UI"/>
              </a:rPr>
              <a:t>Open standards. Hash-only on-chain. A public verifier anyone can use without an account.</a:t>
            </a:r>
          </a:p>
        </p:txBody>
      </p:sp>
      <p:sp>
        <p:nvSpPr>
          <p:cNvPr id="5" name="Rounded Rectangle 4"/>
          <p:cNvSpPr/>
          <p:nvPr/>
        </p:nvSpPr>
        <p:spPr>
          <a:xfrm>
            <a:off x="685800" y="2423160"/>
            <a:ext cx="3383280" cy="2194560"/>
          </a:xfrm>
          <a:prstGeom prst="roundRect">
            <a:avLst/>
          </a:prstGeom>
          <a:solidFill>
            <a:srgbClr val="FFFFFF"/>
          </a:solidFill>
          <a:ln w="12700">
            <a:solidFill>
              <a:srgbClr val="E7E0D3"/>
            </a:solidFill>
          </a:ln>
        </p:spPr>
        <p:style>
          <a:lnRef idx="1">
            <a:schemeClr val="accent1"/>
          </a:lnRef>
          <a:fillRef idx="3">
            <a:schemeClr val="accent1"/>
          </a:fillRef>
          <a:effectRef idx="2">
            <a:schemeClr val="accent1"/>
          </a:effectRef>
          <a:fontRef idx="minor">
            <a:schemeClr val="lt1"/>
          </a:fontRef>
        </p:style>
        <p:txBody>
          <a:bodyPr wrap="square" lIns="137160" tIns="109728" rIns="137160" bIns="91440" rtlCol="0" anchor="t"/>
          <a:lstStyle/>
          <a:p>
            <a:pPr>
              <a:spcAft>
                <a:spcPts val="400"/>
              </a:spcAft>
            </a:pPr>
            <a:r>
              <a:rPr sz="1200" b="1" dirty="0">
                <a:solidFill>
                  <a:srgbClr val="C8852A"/>
                </a:solidFill>
                <a:latin typeface="Segoe UI"/>
              </a:rPr>
              <a:t>Roadmap</a:t>
            </a:r>
          </a:p>
          <a:p>
            <a:pPr>
              <a:spcAft>
                <a:spcPts val="600"/>
              </a:spcAft>
            </a:pPr>
            <a:r>
              <a:rPr sz="2400" b="1" dirty="0">
                <a:solidFill>
                  <a:srgbClr val="6B4F3A"/>
                </a:solidFill>
                <a:latin typeface="Segoe UI"/>
              </a:rPr>
              <a:t>Merit ledger</a:t>
            </a:r>
          </a:p>
          <a:p>
            <a:r>
              <a:rPr dirty="0">
                <a:solidFill>
                  <a:srgbClr val="6E665B"/>
                </a:solidFill>
                <a:latin typeface="Segoe UI"/>
              </a:rPr>
              <a:t>Append-only XP events. Badges for consistency. Readable by funders when setting eligibility rules.</a:t>
            </a:r>
          </a:p>
        </p:txBody>
      </p:sp>
      <p:sp>
        <p:nvSpPr>
          <p:cNvPr id="6" name="Rounded Rectangle 5"/>
          <p:cNvSpPr/>
          <p:nvPr/>
        </p:nvSpPr>
        <p:spPr>
          <a:xfrm>
            <a:off x="4343400" y="2423160"/>
            <a:ext cx="3383280" cy="2194560"/>
          </a:xfrm>
          <a:prstGeom prst="roundRect">
            <a:avLst/>
          </a:prstGeom>
          <a:solidFill>
            <a:srgbClr val="FFFFFF"/>
          </a:solidFill>
          <a:ln w="12700">
            <a:solidFill>
              <a:srgbClr val="E7E0D3"/>
            </a:solidFill>
          </a:ln>
        </p:spPr>
        <p:style>
          <a:lnRef idx="1">
            <a:schemeClr val="accent1"/>
          </a:lnRef>
          <a:fillRef idx="3">
            <a:schemeClr val="accent1"/>
          </a:fillRef>
          <a:effectRef idx="2">
            <a:schemeClr val="accent1"/>
          </a:effectRef>
          <a:fontRef idx="minor">
            <a:schemeClr val="lt1"/>
          </a:fontRef>
        </p:style>
        <p:txBody>
          <a:bodyPr wrap="square" lIns="137160" tIns="109728" rIns="137160" bIns="91440" rtlCol="0" anchor="t"/>
          <a:lstStyle/>
          <a:p>
            <a:pPr>
              <a:spcAft>
                <a:spcPts val="400"/>
              </a:spcAft>
            </a:pPr>
            <a:r>
              <a:rPr sz="1200" b="1" dirty="0">
                <a:solidFill>
                  <a:srgbClr val="C8852A"/>
                </a:solidFill>
                <a:latin typeface="Segoe UI"/>
              </a:rPr>
              <a:t>Roadmap</a:t>
            </a:r>
          </a:p>
          <a:p>
            <a:pPr>
              <a:spcAft>
                <a:spcPts val="600"/>
              </a:spcAft>
            </a:pPr>
            <a:r>
              <a:rPr sz="2400" b="1" dirty="0">
                <a:solidFill>
                  <a:srgbClr val="6B4F3A"/>
                </a:solidFill>
                <a:latin typeface="Segoe UI"/>
              </a:rPr>
              <a:t>W3C VC + OB 3.0</a:t>
            </a:r>
          </a:p>
          <a:p>
            <a:r>
              <a:rPr dirty="0">
                <a:solidFill>
                  <a:srgbClr val="6E665B"/>
                </a:solidFill>
                <a:latin typeface="Segoe UI"/>
              </a:rPr>
              <a:t>Portable credential any OB 3.0 verifier can check. Learner name on the card, not on the chain.</a:t>
            </a:r>
          </a:p>
        </p:txBody>
      </p:sp>
      <p:sp>
        <p:nvSpPr>
          <p:cNvPr id="7" name="Rounded Rectangle 6"/>
          <p:cNvSpPr/>
          <p:nvPr/>
        </p:nvSpPr>
        <p:spPr>
          <a:xfrm>
            <a:off x="8001000" y="2423160"/>
            <a:ext cx="3520440" cy="2194560"/>
          </a:xfrm>
          <a:prstGeom prst="roundRect">
            <a:avLst/>
          </a:prstGeom>
          <a:solidFill>
            <a:srgbClr val="FFFFFF"/>
          </a:solidFill>
          <a:ln w="12700">
            <a:solidFill>
              <a:srgbClr val="E7E0D3"/>
            </a:solidFill>
          </a:ln>
        </p:spPr>
        <p:style>
          <a:lnRef idx="1">
            <a:schemeClr val="accent1"/>
          </a:lnRef>
          <a:fillRef idx="3">
            <a:schemeClr val="accent1"/>
          </a:fillRef>
          <a:effectRef idx="2">
            <a:schemeClr val="accent1"/>
          </a:effectRef>
          <a:fontRef idx="minor">
            <a:schemeClr val="lt1"/>
          </a:fontRef>
        </p:style>
        <p:txBody>
          <a:bodyPr wrap="square" lIns="137160" tIns="109728" rIns="137160" bIns="91440" rtlCol="0" anchor="t"/>
          <a:lstStyle/>
          <a:p>
            <a:pPr>
              <a:spcAft>
                <a:spcPts val="400"/>
              </a:spcAft>
            </a:pPr>
            <a:r>
              <a:rPr sz="1200" b="1" dirty="0">
                <a:solidFill>
                  <a:srgbClr val="C8852A"/>
                </a:solidFill>
                <a:latin typeface="Segoe UI"/>
              </a:rPr>
              <a:t>Roadmap</a:t>
            </a:r>
          </a:p>
          <a:p>
            <a:pPr>
              <a:spcAft>
                <a:spcPts val="600"/>
              </a:spcAft>
            </a:pPr>
            <a:r>
              <a:rPr sz="2400" b="1" dirty="0">
                <a:solidFill>
                  <a:srgbClr val="6B4F3A"/>
                </a:solidFill>
                <a:latin typeface="Segoe UI"/>
              </a:rPr>
              <a:t>Public verifier</a:t>
            </a:r>
          </a:p>
          <a:p>
            <a:r>
              <a:rPr dirty="0">
                <a:solidFill>
                  <a:srgbClr val="6E665B"/>
                </a:solidFill>
                <a:latin typeface="Segoe UI"/>
              </a:rPr>
              <a:t>URL or QR → valid or invalid, with course, date, and score. No login required.</a:t>
            </a:r>
          </a:p>
        </p:txBody>
      </p:sp>
      <p:sp>
        <p:nvSpPr>
          <p:cNvPr id="8" name="Rounded Rectangle 7"/>
          <p:cNvSpPr/>
          <p:nvPr/>
        </p:nvSpPr>
        <p:spPr>
          <a:xfrm>
            <a:off x="685800" y="4892040"/>
            <a:ext cx="10835640" cy="1051560"/>
          </a:xfrm>
          <a:prstGeom prst="roundRect">
            <a:avLst/>
          </a:prstGeom>
          <a:solidFill>
            <a:srgbClr val="FFFFFF"/>
          </a:solidFill>
          <a:ln w="12700">
            <a:solidFill>
              <a:srgbClr val="E7E0D3"/>
            </a:solidFill>
          </a:ln>
        </p:spPr>
        <p:style>
          <a:lnRef idx="1">
            <a:schemeClr val="accent1"/>
          </a:lnRef>
          <a:fillRef idx="3">
            <a:schemeClr val="accent1"/>
          </a:fillRef>
          <a:effectRef idx="2">
            <a:schemeClr val="accent1"/>
          </a:effectRef>
          <a:fontRef idx="minor">
            <a:schemeClr val="lt1"/>
          </a:fontRef>
        </p:style>
        <p:txBody>
          <a:bodyPr wrap="square" lIns="137160" tIns="109728" rIns="137160" bIns="91440" rtlCol="0" anchor="ctr"/>
          <a:lstStyle/>
          <a:p>
            <a:pPr algn="ctr">
              <a:spcAft>
                <a:spcPts val="600"/>
              </a:spcAft>
            </a:pPr>
            <a:r>
              <a:rPr sz="2400" b="1" dirty="0">
                <a:solidFill>
                  <a:srgbClr val="6B4F3A"/>
                </a:solidFill>
                <a:latin typeface="Segoe UI"/>
              </a:rPr>
              <a:t>Regulatory posture</a:t>
            </a:r>
          </a:p>
          <a:p>
            <a:pPr algn="ctr"/>
            <a:r>
              <a:rPr dirty="0" err="1">
                <a:solidFill>
                  <a:srgbClr val="6E665B"/>
                </a:solidFill>
                <a:latin typeface="Segoe UI"/>
              </a:rPr>
              <a:t>Aniskwela</a:t>
            </a:r>
            <a:r>
              <a:rPr dirty="0">
                <a:solidFill>
                  <a:srgbClr val="6E665B"/>
                </a:solidFill>
                <a:latin typeface="Segoe UI"/>
              </a:rPr>
              <a:t> is not a money transmitter. Credentials carry proof of learning.</a:t>
            </a:r>
            <a:br>
              <a:rPr lang="en-US" dirty="0">
                <a:solidFill>
                  <a:srgbClr val="6E665B"/>
                </a:solidFill>
                <a:latin typeface="Segoe UI"/>
              </a:rPr>
            </a:br>
            <a:r>
              <a:rPr dirty="0">
                <a:solidFill>
                  <a:srgbClr val="6E665B"/>
                </a:solidFill>
                <a:latin typeface="Segoe UI"/>
              </a:rPr>
              <a:t>Grants use simulated disbursement until a VASP partner executes payout.</a:t>
            </a:r>
          </a:p>
        </p:txBody>
      </p:sp>
      <p:sp>
        <p:nvSpPr>
          <p:cNvPr id="9" name="TextBox 8"/>
          <p:cNvSpPr txBox="1"/>
          <p:nvPr/>
        </p:nvSpPr>
        <p:spPr>
          <a:xfrm>
            <a:off x="548640" y="6446520"/>
            <a:ext cx="4572000" cy="320040"/>
          </a:xfrm>
          <a:prstGeom prst="rect">
            <a:avLst/>
          </a:prstGeom>
          <a:noFill/>
        </p:spPr>
        <p:txBody>
          <a:bodyPr wrap="square" anchor="t">
            <a:spAutoFit/>
          </a:bodyPr>
          <a:lstStyle/>
          <a:p>
            <a:pPr algn="l"/>
            <a:r>
              <a:rPr sz="1000" b="0">
                <a:solidFill>
                  <a:srgbClr val="6E665B"/>
                </a:solidFill>
                <a:latin typeface="Segoe UI"/>
              </a:rPr>
              <a:t>ANISKWELA  ·  Axon Enjin</a:t>
            </a:r>
          </a:p>
        </p:txBody>
      </p:sp>
      <p:sp>
        <p:nvSpPr>
          <p:cNvPr id="10" name="TextBox 9"/>
          <p:cNvSpPr txBox="1"/>
          <p:nvPr/>
        </p:nvSpPr>
        <p:spPr>
          <a:xfrm>
            <a:off x="9601200" y="6446520"/>
            <a:ext cx="2103120" cy="320040"/>
          </a:xfrm>
          <a:prstGeom prst="rect">
            <a:avLst/>
          </a:prstGeom>
          <a:noFill/>
        </p:spPr>
        <p:txBody>
          <a:bodyPr wrap="square" anchor="t">
            <a:spAutoFit/>
          </a:bodyPr>
          <a:lstStyle/>
          <a:p>
            <a:pPr algn="r"/>
            <a:r>
              <a:t>Grant partner deck  ·  8/11</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BF8F2"/>
        </a:solidFill>
        <a:effectLst/>
      </p:bgPr>
    </p:bg>
    <p:spTree>
      <p:nvGrpSpPr>
        <p:cNvPr id="1" name=""/>
        <p:cNvGrpSpPr/>
        <p:nvPr/>
      </p:nvGrpSpPr>
      <p:grpSpPr>
        <a:xfrm>
          <a:off x="0" y="0"/>
          <a:ext cx="0" cy="0"/>
          <a:chOff x="0" y="0"/>
          <a:chExt cx="0" cy="0"/>
        </a:xfrm>
      </p:grpSpPr>
      <p:sp>
        <p:nvSpPr>
          <p:cNvPr id="2" name="TextBox 1"/>
          <p:cNvSpPr txBox="1"/>
          <p:nvPr/>
        </p:nvSpPr>
        <p:spPr>
          <a:xfrm>
            <a:off x="685800" y="502920"/>
            <a:ext cx="3657600" cy="320040"/>
          </a:xfrm>
          <a:prstGeom prst="rect">
            <a:avLst/>
          </a:prstGeom>
          <a:noFill/>
        </p:spPr>
        <p:txBody>
          <a:bodyPr wrap="square" anchor="t">
            <a:spAutoFit/>
          </a:bodyPr>
          <a:lstStyle/>
          <a:p>
            <a:pPr algn="l"/>
            <a:r>
              <a:rPr sz="1100" b="1">
                <a:solidFill>
                  <a:srgbClr val="3F8E5B"/>
                </a:solidFill>
                <a:latin typeface="Segoe UI"/>
              </a:rPr>
              <a:t>FOR FUNDERS &amp; PARTNERS</a:t>
            </a:r>
          </a:p>
        </p:txBody>
      </p:sp>
      <p:sp>
        <p:nvSpPr>
          <p:cNvPr id="3" name="TextBox 2"/>
          <p:cNvSpPr txBox="1"/>
          <p:nvPr/>
        </p:nvSpPr>
        <p:spPr>
          <a:xfrm>
            <a:off x="685800" y="868680"/>
            <a:ext cx="10515600" cy="523220"/>
          </a:xfrm>
          <a:prstGeom prst="rect">
            <a:avLst/>
          </a:prstGeom>
          <a:noFill/>
        </p:spPr>
        <p:txBody>
          <a:bodyPr wrap="square" anchor="t">
            <a:spAutoFit/>
          </a:bodyPr>
          <a:lstStyle/>
          <a:p>
            <a:pPr algn="l"/>
            <a:r>
              <a:rPr sz="2800" b="1" dirty="0">
                <a:solidFill>
                  <a:srgbClr val="6B4F3A"/>
                </a:solidFill>
                <a:latin typeface="Segoe UI"/>
              </a:rPr>
              <a:t>Target grants to consistent learners. Audit every decision.</a:t>
            </a:r>
          </a:p>
        </p:txBody>
      </p:sp>
      <p:sp>
        <p:nvSpPr>
          <p:cNvPr id="4" name="TextBox 3"/>
          <p:cNvSpPr txBox="1"/>
          <p:nvPr/>
        </p:nvSpPr>
        <p:spPr>
          <a:xfrm>
            <a:off x="685800" y="1600200"/>
            <a:ext cx="10515600" cy="640080"/>
          </a:xfrm>
          <a:prstGeom prst="rect">
            <a:avLst/>
          </a:prstGeom>
          <a:noFill/>
        </p:spPr>
        <p:txBody>
          <a:bodyPr wrap="square" anchor="t">
            <a:spAutoFit/>
          </a:bodyPr>
          <a:lstStyle/>
          <a:p>
            <a:pPr algn="l"/>
            <a:r>
              <a:rPr sz="1700" b="0">
                <a:solidFill>
                  <a:srgbClr val="6E665B"/>
                </a:solidFill>
                <a:latin typeface="Segoe UI"/>
              </a:rPr>
              <a:t>Aniskwela decides eligibility. A licensed VASP moves money. You get exports your donors can read.</a:t>
            </a:r>
          </a:p>
        </p:txBody>
      </p:sp>
      <p:sp>
        <p:nvSpPr>
          <p:cNvPr id="5" name="Rounded Rectangle 4"/>
          <p:cNvSpPr/>
          <p:nvPr/>
        </p:nvSpPr>
        <p:spPr>
          <a:xfrm>
            <a:off x="685800" y="2423160"/>
            <a:ext cx="3383280" cy="2286000"/>
          </a:xfrm>
          <a:prstGeom prst="roundRect">
            <a:avLst/>
          </a:prstGeom>
          <a:solidFill>
            <a:srgbClr val="FFFFFF"/>
          </a:solidFill>
          <a:ln w="12700">
            <a:solidFill>
              <a:srgbClr val="E7E0D3"/>
            </a:solidFill>
          </a:ln>
        </p:spPr>
        <p:style>
          <a:lnRef idx="1">
            <a:schemeClr val="accent1"/>
          </a:lnRef>
          <a:fillRef idx="3">
            <a:schemeClr val="accent1"/>
          </a:fillRef>
          <a:effectRef idx="2">
            <a:schemeClr val="accent1"/>
          </a:effectRef>
          <a:fontRef idx="minor">
            <a:schemeClr val="lt1"/>
          </a:fontRef>
        </p:style>
        <p:txBody>
          <a:bodyPr wrap="square" lIns="137160" tIns="109728" rIns="137160" bIns="91440" rtlCol="0" anchor="t"/>
          <a:lstStyle/>
          <a:p>
            <a:pPr algn="ctr">
              <a:spcAft>
                <a:spcPts val="600"/>
              </a:spcAft>
            </a:pPr>
            <a:r>
              <a:rPr sz="2400" b="1">
                <a:solidFill>
                  <a:srgbClr val="6B4F3A"/>
                </a:solidFill>
                <a:latin typeface="Segoe UI"/>
              </a:rPr>
              <a:t>Set criteria</a:t>
            </a:r>
          </a:p>
          <a:p>
            <a:r>
              <a:rPr>
                <a:solidFill>
                  <a:srgbClr val="6E665B"/>
                </a:solidFill>
                <a:latin typeface="Segoe UI"/>
              </a:rPr>
              <a:t>Example: "Agriculture track, ≥30,000 XP, Consistent Learner badge." Criteria stored as structured JSON.</a:t>
            </a:r>
          </a:p>
        </p:txBody>
      </p:sp>
      <p:sp>
        <p:nvSpPr>
          <p:cNvPr id="6" name="Rounded Rectangle 5"/>
          <p:cNvSpPr/>
          <p:nvPr/>
        </p:nvSpPr>
        <p:spPr>
          <a:xfrm>
            <a:off x="4343400" y="2423160"/>
            <a:ext cx="3383280" cy="2286000"/>
          </a:xfrm>
          <a:prstGeom prst="roundRect">
            <a:avLst/>
          </a:prstGeom>
          <a:solidFill>
            <a:srgbClr val="FFFFFF"/>
          </a:solidFill>
          <a:ln w="12700">
            <a:solidFill>
              <a:srgbClr val="E7E0D3"/>
            </a:solidFill>
          </a:ln>
        </p:spPr>
        <p:style>
          <a:lnRef idx="1">
            <a:schemeClr val="accent1"/>
          </a:lnRef>
          <a:fillRef idx="3">
            <a:schemeClr val="accent1"/>
          </a:fillRef>
          <a:effectRef idx="2">
            <a:schemeClr val="accent1"/>
          </a:effectRef>
          <a:fontRef idx="minor">
            <a:schemeClr val="lt1"/>
          </a:fontRef>
        </p:style>
        <p:txBody>
          <a:bodyPr wrap="square" lIns="137160" tIns="109728" rIns="137160" bIns="91440" rtlCol="0" anchor="t"/>
          <a:lstStyle/>
          <a:p>
            <a:pPr algn="ctr">
              <a:spcAft>
                <a:spcPts val="600"/>
              </a:spcAft>
            </a:pPr>
            <a:r>
              <a:rPr sz="2400" b="1" dirty="0">
                <a:solidFill>
                  <a:srgbClr val="6B4F3A"/>
                </a:solidFill>
                <a:latin typeface="Segoe UI"/>
              </a:rPr>
              <a:t>Preview eligible list</a:t>
            </a:r>
          </a:p>
          <a:p>
            <a:r>
              <a:rPr dirty="0">
                <a:solidFill>
                  <a:srgbClr val="6E665B"/>
                </a:solidFill>
                <a:latin typeface="Segoe UI"/>
              </a:rPr>
              <a:t>Server-side query against merit ledger and credentials. No self-reported forms.</a:t>
            </a:r>
          </a:p>
        </p:txBody>
      </p:sp>
      <p:sp>
        <p:nvSpPr>
          <p:cNvPr id="7" name="Rounded Rectangle 6"/>
          <p:cNvSpPr/>
          <p:nvPr/>
        </p:nvSpPr>
        <p:spPr>
          <a:xfrm>
            <a:off x="8001000" y="2423160"/>
            <a:ext cx="3520440" cy="2286000"/>
          </a:xfrm>
          <a:prstGeom prst="roundRect">
            <a:avLst/>
          </a:prstGeom>
          <a:solidFill>
            <a:srgbClr val="FFFFFF"/>
          </a:solidFill>
          <a:ln w="12700">
            <a:solidFill>
              <a:srgbClr val="E7E0D3"/>
            </a:solidFill>
          </a:ln>
        </p:spPr>
        <p:style>
          <a:lnRef idx="1">
            <a:schemeClr val="accent1"/>
          </a:lnRef>
          <a:fillRef idx="3">
            <a:schemeClr val="accent1"/>
          </a:fillRef>
          <a:effectRef idx="2">
            <a:schemeClr val="accent1"/>
          </a:effectRef>
          <a:fontRef idx="minor">
            <a:schemeClr val="lt1"/>
          </a:fontRef>
        </p:style>
        <p:txBody>
          <a:bodyPr wrap="square" lIns="137160" tIns="109728" rIns="137160" bIns="91440" rtlCol="0" anchor="t"/>
          <a:lstStyle/>
          <a:p>
            <a:pPr>
              <a:spcAft>
                <a:spcPts val="600"/>
              </a:spcAft>
            </a:pPr>
            <a:r>
              <a:rPr sz="2400" b="1" dirty="0">
                <a:solidFill>
                  <a:srgbClr val="6B4F3A"/>
                </a:solidFill>
                <a:latin typeface="Segoe UI"/>
              </a:rPr>
              <a:t>Simulate &amp; export</a:t>
            </a:r>
          </a:p>
          <a:p>
            <a:r>
              <a:rPr dirty="0">
                <a:solidFill>
                  <a:srgbClr val="6E665B"/>
                </a:solidFill>
                <a:latin typeface="Segoe UI"/>
              </a:rPr>
              <a:t>MVP disbursement is clearly labelled simulation. Audit report export for program officers.</a:t>
            </a:r>
          </a:p>
        </p:txBody>
      </p:sp>
      <p:sp>
        <p:nvSpPr>
          <p:cNvPr id="8" name="TextBox 7"/>
          <p:cNvSpPr txBox="1"/>
          <p:nvPr/>
        </p:nvSpPr>
        <p:spPr>
          <a:xfrm>
            <a:off x="685800" y="4983480"/>
            <a:ext cx="10835640" cy="822960"/>
          </a:xfrm>
          <a:prstGeom prst="rect">
            <a:avLst/>
          </a:prstGeom>
          <a:noFill/>
        </p:spPr>
        <p:txBody>
          <a:bodyPr wrap="square" anchor="t">
            <a:spAutoFit/>
          </a:bodyPr>
          <a:lstStyle/>
          <a:p>
            <a:pPr algn="l"/>
            <a:r>
              <a:rPr sz="1500" b="0">
                <a:solidFill>
                  <a:srgbClr val="241F1A"/>
                </a:solidFill>
                <a:latin typeface="Segoe UI"/>
              </a:rPr>
              <a:t>We are looking for one foundation or agency partner to co-design the first pilot program criteria with real farmers and extension teachers in your network.</a:t>
            </a:r>
          </a:p>
        </p:txBody>
      </p:sp>
      <p:sp>
        <p:nvSpPr>
          <p:cNvPr id="9" name="TextBox 8"/>
          <p:cNvSpPr txBox="1"/>
          <p:nvPr/>
        </p:nvSpPr>
        <p:spPr>
          <a:xfrm>
            <a:off x="548640" y="6446520"/>
            <a:ext cx="4572000" cy="320040"/>
          </a:xfrm>
          <a:prstGeom prst="rect">
            <a:avLst/>
          </a:prstGeom>
          <a:noFill/>
        </p:spPr>
        <p:txBody>
          <a:bodyPr wrap="square" anchor="t">
            <a:spAutoFit/>
          </a:bodyPr>
          <a:lstStyle/>
          <a:p>
            <a:pPr algn="l"/>
            <a:r>
              <a:rPr sz="1000" b="0">
                <a:solidFill>
                  <a:srgbClr val="6E665B"/>
                </a:solidFill>
                <a:latin typeface="Segoe UI"/>
              </a:rPr>
              <a:t>ANISKWELA  ·  Axon Enjin</a:t>
            </a:r>
          </a:p>
        </p:txBody>
      </p:sp>
      <p:sp>
        <p:nvSpPr>
          <p:cNvPr id="10" name="TextBox 9"/>
          <p:cNvSpPr txBox="1"/>
          <p:nvPr/>
        </p:nvSpPr>
        <p:spPr>
          <a:xfrm>
            <a:off x="9601200" y="6446520"/>
            <a:ext cx="2103120" cy="320040"/>
          </a:xfrm>
          <a:prstGeom prst="rect">
            <a:avLst/>
          </a:prstGeom>
          <a:noFill/>
        </p:spPr>
        <p:txBody>
          <a:bodyPr wrap="square" anchor="t">
            <a:spAutoFit/>
          </a:bodyPr>
          <a:lstStyle/>
          <a:p>
            <a:pPr algn="r"/>
            <a:r>
              <a:t>Grant partner deck  ·  9/11</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BF8F2"/>
        </a:solidFill>
        <a:effectLst/>
      </p:bgPr>
    </p:bg>
    <p:spTree>
      <p:nvGrpSpPr>
        <p:cNvPr id="1" name=""/>
        <p:cNvGrpSpPr/>
        <p:nvPr/>
      </p:nvGrpSpPr>
      <p:grpSpPr>
        <a:xfrm>
          <a:off x="0" y="0"/>
          <a:ext cx="0" cy="0"/>
          <a:chOff x="0" y="0"/>
          <a:chExt cx="0" cy="0"/>
        </a:xfrm>
      </p:grpSpPr>
      <p:sp>
        <p:nvSpPr>
          <p:cNvPr id="2" name="TextBox 1"/>
          <p:cNvSpPr txBox="1"/>
          <p:nvPr/>
        </p:nvSpPr>
        <p:spPr>
          <a:xfrm>
            <a:off x="685800" y="502920"/>
            <a:ext cx="3657600" cy="320040"/>
          </a:xfrm>
          <a:prstGeom prst="rect">
            <a:avLst/>
          </a:prstGeom>
          <a:noFill/>
        </p:spPr>
        <p:txBody>
          <a:bodyPr wrap="square" anchor="t">
            <a:spAutoFit/>
          </a:bodyPr>
          <a:lstStyle/>
          <a:p>
            <a:pPr algn="l"/>
            <a:r>
              <a:rPr sz="1100" b="1">
                <a:solidFill>
                  <a:srgbClr val="3F8E5B"/>
                </a:solidFill>
                <a:latin typeface="Segoe UI"/>
              </a:rPr>
              <a:t>TECHNOLOGY</a:t>
            </a:r>
          </a:p>
        </p:txBody>
      </p:sp>
      <p:sp>
        <p:nvSpPr>
          <p:cNvPr id="3" name="TextBox 2"/>
          <p:cNvSpPr txBox="1"/>
          <p:nvPr/>
        </p:nvSpPr>
        <p:spPr>
          <a:xfrm>
            <a:off x="685800" y="868680"/>
            <a:ext cx="10515600" cy="822960"/>
          </a:xfrm>
          <a:prstGeom prst="rect">
            <a:avLst/>
          </a:prstGeom>
          <a:noFill/>
        </p:spPr>
        <p:txBody>
          <a:bodyPr wrap="square" anchor="t">
            <a:spAutoFit/>
          </a:bodyPr>
          <a:lstStyle/>
          <a:p>
            <a:pPr algn="l"/>
            <a:r>
              <a:rPr sz="3200" b="1">
                <a:solidFill>
                  <a:srgbClr val="6B4F3A"/>
                </a:solidFill>
                <a:latin typeface="Segoe UI"/>
              </a:rPr>
              <a:t>Honest stack for rural scale.</a:t>
            </a:r>
          </a:p>
        </p:txBody>
      </p:sp>
      <p:sp>
        <p:nvSpPr>
          <p:cNvPr id="4" name="TextBox 3"/>
          <p:cNvSpPr txBox="1"/>
          <p:nvPr/>
        </p:nvSpPr>
        <p:spPr>
          <a:xfrm>
            <a:off x="685800" y="1600200"/>
            <a:ext cx="10515600" cy="640080"/>
          </a:xfrm>
          <a:prstGeom prst="rect">
            <a:avLst/>
          </a:prstGeom>
          <a:noFill/>
        </p:spPr>
        <p:txBody>
          <a:bodyPr wrap="square" anchor="t">
            <a:spAutoFit/>
          </a:bodyPr>
          <a:lstStyle/>
          <a:p>
            <a:pPr algn="l"/>
            <a:r>
              <a:rPr sz="1700" b="0">
                <a:solidFill>
                  <a:srgbClr val="6E665B"/>
                </a:solidFill>
                <a:latin typeface="Segoe UI"/>
              </a:rPr>
              <a:t>Next.js 16 on Vercel. Supabase with RLS on every table. Azure AI Foundry. Stellar for hash anchoring only.</a:t>
            </a:r>
          </a:p>
        </p:txBody>
      </p:sp>
      <p:sp>
        <p:nvSpPr>
          <p:cNvPr id="5" name="Rounded Rectangle 4"/>
          <p:cNvSpPr/>
          <p:nvPr/>
        </p:nvSpPr>
        <p:spPr>
          <a:xfrm>
            <a:off x="685800" y="2423160"/>
            <a:ext cx="5029200" cy="868680"/>
          </a:xfrm>
          <a:prstGeom prst="roundRect">
            <a:avLst/>
          </a:prstGeom>
          <a:solidFill>
            <a:srgbClr val="FFFFFF"/>
          </a:solidFill>
          <a:ln w="12700">
            <a:solidFill>
              <a:srgbClr val="E7E0D3"/>
            </a:solidFill>
          </a:ln>
        </p:spPr>
        <p:style>
          <a:lnRef idx="1">
            <a:schemeClr val="accent1"/>
          </a:lnRef>
          <a:fillRef idx="3">
            <a:schemeClr val="accent1"/>
          </a:fillRef>
          <a:effectRef idx="2">
            <a:schemeClr val="accent1"/>
          </a:effectRef>
          <a:fontRef idx="minor">
            <a:schemeClr val="lt1"/>
          </a:fontRef>
        </p:style>
        <p:txBody>
          <a:bodyPr wrap="square" lIns="137160" tIns="109728" rIns="137160" bIns="91440" rtlCol="0" anchor="ctr"/>
          <a:lstStyle/>
          <a:p>
            <a:pPr algn="ctr">
              <a:spcAft>
                <a:spcPts val="600"/>
              </a:spcAft>
            </a:pPr>
            <a:r>
              <a:rPr sz="2000" b="1">
                <a:solidFill>
                  <a:srgbClr val="6B4F3A"/>
                </a:solidFill>
                <a:latin typeface="Segoe UI"/>
              </a:rPr>
              <a:t>Framework: Next.js 16.2 App Router</a:t>
            </a:r>
          </a:p>
          <a:p>
            <a:pPr algn="ctr"/>
            <a:r>
              <a:rPr sz="1600">
                <a:solidFill>
                  <a:srgbClr val="6E665B"/>
                </a:solidFill>
                <a:latin typeface="Segoe UI"/>
              </a:rPr>
              <a:t>Cache Components on public reads</a:t>
            </a:r>
          </a:p>
        </p:txBody>
      </p:sp>
      <p:sp>
        <p:nvSpPr>
          <p:cNvPr id="6" name="Rounded Rectangle 5"/>
          <p:cNvSpPr/>
          <p:nvPr/>
        </p:nvSpPr>
        <p:spPr>
          <a:xfrm>
            <a:off x="685800" y="3383280"/>
            <a:ext cx="5029200" cy="868680"/>
          </a:xfrm>
          <a:prstGeom prst="roundRect">
            <a:avLst/>
          </a:prstGeom>
          <a:solidFill>
            <a:srgbClr val="FFFFFF"/>
          </a:solidFill>
          <a:ln w="12700">
            <a:solidFill>
              <a:srgbClr val="E7E0D3"/>
            </a:solidFill>
          </a:ln>
        </p:spPr>
        <p:style>
          <a:lnRef idx="1">
            <a:schemeClr val="accent1"/>
          </a:lnRef>
          <a:fillRef idx="3">
            <a:schemeClr val="accent1"/>
          </a:fillRef>
          <a:effectRef idx="2">
            <a:schemeClr val="accent1"/>
          </a:effectRef>
          <a:fontRef idx="minor">
            <a:schemeClr val="lt1"/>
          </a:fontRef>
        </p:style>
        <p:txBody>
          <a:bodyPr wrap="square" lIns="137160" tIns="109728" rIns="137160" bIns="91440" rtlCol="0" anchor="ctr"/>
          <a:lstStyle/>
          <a:p>
            <a:pPr algn="ctr">
              <a:spcAft>
                <a:spcPts val="600"/>
              </a:spcAft>
            </a:pPr>
            <a:r>
              <a:rPr sz="2000" b="1">
                <a:solidFill>
                  <a:srgbClr val="6B4F3A"/>
                </a:solidFill>
                <a:latin typeface="Segoe UI"/>
              </a:rPr>
              <a:t>Data: Supabase Postgres</a:t>
            </a:r>
          </a:p>
          <a:p>
            <a:pPr algn="ctr"/>
            <a:r>
              <a:rPr sz="1600">
                <a:solidFill>
                  <a:srgbClr val="6E665B"/>
                </a:solidFill>
                <a:latin typeface="Segoe UI"/>
              </a:rPr>
              <a:t>9 tables, RLS, auth SSR</a:t>
            </a:r>
          </a:p>
        </p:txBody>
      </p:sp>
      <p:sp>
        <p:nvSpPr>
          <p:cNvPr id="7" name="Rounded Rectangle 6"/>
          <p:cNvSpPr/>
          <p:nvPr/>
        </p:nvSpPr>
        <p:spPr>
          <a:xfrm>
            <a:off x="685800" y="4343400"/>
            <a:ext cx="5029200" cy="868680"/>
          </a:xfrm>
          <a:prstGeom prst="roundRect">
            <a:avLst/>
          </a:prstGeom>
          <a:solidFill>
            <a:srgbClr val="FFFFFF"/>
          </a:solidFill>
          <a:ln w="12700">
            <a:solidFill>
              <a:srgbClr val="E7E0D3"/>
            </a:solidFill>
          </a:ln>
        </p:spPr>
        <p:style>
          <a:lnRef idx="1">
            <a:schemeClr val="accent1"/>
          </a:lnRef>
          <a:fillRef idx="3">
            <a:schemeClr val="accent1"/>
          </a:fillRef>
          <a:effectRef idx="2">
            <a:schemeClr val="accent1"/>
          </a:effectRef>
          <a:fontRef idx="minor">
            <a:schemeClr val="lt1"/>
          </a:fontRef>
        </p:style>
        <p:txBody>
          <a:bodyPr wrap="square" lIns="137160" tIns="109728" rIns="137160" bIns="91440" rtlCol="0" anchor="ctr"/>
          <a:lstStyle/>
          <a:p>
            <a:pPr algn="ctr">
              <a:spcAft>
                <a:spcPts val="600"/>
              </a:spcAft>
            </a:pPr>
            <a:r>
              <a:rPr sz="2000" b="1">
                <a:solidFill>
                  <a:srgbClr val="6B4F3A"/>
                </a:solidFill>
                <a:latin typeface="Segoe UI"/>
              </a:rPr>
              <a:t>AI: Azure AI Foundry</a:t>
            </a:r>
          </a:p>
          <a:p>
            <a:pPr algn="ctr"/>
            <a:r>
              <a:rPr sz="1600">
                <a:solidFill>
                  <a:srgbClr val="6E665B"/>
                </a:solidFill>
                <a:latin typeface="Segoe UI"/>
              </a:rPr>
              <a:t>gpt-5.4 course gen · gpt-5.4-mini repair</a:t>
            </a:r>
          </a:p>
        </p:txBody>
      </p:sp>
      <p:sp>
        <p:nvSpPr>
          <p:cNvPr id="8" name="Rounded Rectangle 7"/>
          <p:cNvSpPr/>
          <p:nvPr/>
        </p:nvSpPr>
        <p:spPr>
          <a:xfrm>
            <a:off x="685800" y="5303520"/>
            <a:ext cx="5029200" cy="868680"/>
          </a:xfrm>
          <a:prstGeom prst="roundRect">
            <a:avLst/>
          </a:prstGeom>
          <a:solidFill>
            <a:srgbClr val="FFFFFF"/>
          </a:solidFill>
          <a:ln w="12700">
            <a:solidFill>
              <a:srgbClr val="E7E0D3"/>
            </a:solidFill>
          </a:ln>
        </p:spPr>
        <p:style>
          <a:lnRef idx="1">
            <a:schemeClr val="accent1"/>
          </a:lnRef>
          <a:fillRef idx="3">
            <a:schemeClr val="accent1"/>
          </a:fillRef>
          <a:effectRef idx="2">
            <a:schemeClr val="accent1"/>
          </a:effectRef>
          <a:fontRef idx="minor">
            <a:schemeClr val="lt1"/>
          </a:fontRef>
        </p:style>
        <p:txBody>
          <a:bodyPr wrap="square" lIns="137160" tIns="109728" rIns="137160" bIns="91440" rtlCol="0" anchor="ctr"/>
          <a:lstStyle/>
          <a:p>
            <a:pPr algn="ctr">
              <a:spcAft>
                <a:spcPts val="600"/>
              </a:spcAft>
            </a:pPr>
            <a:r>
              <a:rPr sz="2000" b="1">
                <a:solidFill>
                  <a:srgbClr val="6B4F3A"/>
                </a:solidFill>
                <a:latin typeface="Segoe UI"/>
              </a:rPr>
              <a:t>Chain: Stellar Testnet</a:t>
            </a:r>
          </a:p>
          <a:p>
            <a:pPr algn="ctr"/>
            <a:r>
              <a:rPr sz="1600">
                <a:solidFill>
                  <a:srgbClr val="6E665B"/>
                </a:solidFill>
                <a:latin typeface="Segoe UI"/>
              </a:rPr>
              <a:t>Hash-only memo · mock fallback flag</a:t>
            </a:r>
          </a:p>
        </p:txBody>
      </p:sp>
      <p:sp>
        <p:nvSpPr>
          <p:cNvPr id="9" name="TextBox 8"/>
          <p:cNvSpPr txBox="1"/>
          <p:nvPr/>
        </p:nvSpPr>
        <p:spPr>
          <a:xfrm>
            <a:off x="6263640" y="2514600"/>
            <a:ext cx="5257800" cy="2923877"/>
          </a:xfrm>
          <a:prstGeom prst="rect">
            <a:avLst/>
          </a:prstGeom>
          <a:noFill/>
        </p:spPr>
        <p:txBody>
          <a:bodyPr wrap="square">
            <a:spAutoFit/>
          </a:bodyPr>
          <a:lstStyle/>
          <a:p>
            <a:pPr>
              <a:spcAft>
                <a:spcPts val="800"/>
              </a:spcAft>
            </a:pPr>
            <a:r>
              <a:rPr dirty="0">
                <a:solidFill>
                  <a:srgbClr val="241F1A"/>
                </a:solidFill>
                <a:latin typeface="Segoe UI"/>
              </a:rPr>
              <a:t>Initial JS ≤ 220 KB </a:t>
            </a:r>
            <a:r>
              <a:rPr dirty="0" err="1">
                <a:solidFill>
                  <a:srgbClr val="241F1A"/>
                </a:solidFill>
                <a:latin typeface="Segoe UI"/>
              </a:rPr>
              <a:t>gzipped</a:t>
            </a:r>
            <a:br>
              <a:rPr lang="en-US" dirty="0">
                <a:solidFill>
                  <a:srgbClr val="241F1A"/>
                </a:solidFill>
                <a:latin typeface="Segoe UI"/>
              </a:rPr>
            </a:br>
            <a:r>
              <a:rPr dirty="0">
                <a:solidFill>
                  <a:srgbClr val="241F1A"/>
                </a:solidFill>
                <a:latin typeface="Segoe UI"/>
              </a:rPr>
              <a:t>(measured ≈174 KB today)</a:t>
            </a:r>
          </a:p>
          <a:p>
            <a:pPr>
              <a:spcAft>
                <a:spcPts val="800"/>
              </a:spcAft>
            </a:pPr>
            <a:endParaRPr lang="en-US" dirty="0">
              <a:solidFill>
                <a:srgbClr val="241F1A"/>
              </a:solidFill>
              <a:latin typeface="Segoe UI"/>
            </a:endParaRPr>
          </a:p>
          <a:p>
            <a:pPr>
              <a:spcAft>
                <a:spcPts val="800"/>
              </a:spcAft>
            </a:pPr>
            <a:r>
              <a:rPr dirty="0">
                <a:solidFill>
                  <a:srgbClr val="241F1A"/>
                </a:solidFill>
                <a:latin typeface="Segoe UI"/>
              </a:rPr>
              <a:t>Images ≤ 80 KB </a:t>
            </a:r>
            <a:r>
              <a:rPr dirty="0" err="1">
                <a:solidFill>
                  <a:srgbClr val="241F1A"/>
                </a:solidFill>
                <a:latin typeface="Segoe UI"/>
              </a:rPr>
              <a:t>WebP</a:t>
            </a:r>
            <a:r>
              <a:rPr dirty="0">
                <a:solidFill>
                  <a:srgbClr val="241F1A"/>
                </a:solidFill>
                <a:latin typeface="Segoe UI"/>
              </a:rPr>
              <a:t> on first load</a:t>
            </a:r>
          </a:p>
          <a:p>
            <a:pPr>
              <a:spcAft>
                <a:spcPts val="800"/>
              </a:spcAft>
            </a:pPr>
            <a:endParaRPr lang="en-US" dirty="0">
              <a:solidFill>
                <a:srgbClr val="241F1A"/>
              </a:solidFill>
              <a:latin typeface="Segoe UI"/>
            </a:endParaRPr>
          </a:p>
          <a:p>
            <a:pPr>
              <a:spcAft>
                <a:spcPts val="800"/>
              </a:spcAft>
            </a:pPr>
            <a:r>
              <a:rPr dirty="0">
                <a:solidFill>
                  <a:srgbClr val="241F1A"/>
                </a:solidFill>
                <a:latin typeface="Segoe UI"/>
              </a:rPr>
              <a:t>Core content target &lt; 5 s on 3G</a:t>
            </a:r>
          </a:p>
          <a:p>
            <a:pPr>
              <a:spcAft>
                <a:spcPts val="800"/>
              </a:spcAft>
            </a:pPr>
            <a:endParaRPr lang="en-US" dirty="0">
              <a:solidFill>
                <a:srgbClr val="241F1A"/>
              </a:solidFill>
              <a:latin typeface="Segoe UI"/>
            </a:endParaRPr>
          </a:p>
          <a:p>
            <a:pPr>
              <a:spcAft>
                <a:spcPts val="800"/>
              </a:spcAft>
            </a:pPr>
            <a:r>
              <a:rPr dirty="0">
                <a:solidFill>
                  <a:srgbClr val="241F1A"/>
                </a:solidFill>
                <a:latin typeface="Segoe UI"/>
              </a:rPr>
              <a:t>System fonts only · light theme · EN + Filipino</a:t>
            </a:r>
          </a:p>
        </p:txBody>
      </p:sp>
      <p:sp>
        <p:nvSpPr>
          <p:cNvPr id="10" name="TextBox 9"/>
          <p:cNvSpPr txBox="1"/>
          <p:nvPr/>
        </p:nvSpPr>
        <p:spPr>
          <a:xfrm>
            <a:off x="548640" y="6446520"/>
            <a:ext cx="4572000" cy="320040"/>
          </a:xfrm>
          <a:prstGeom prst="rect">
            <a:avLst/>
          </a:prstGeom>
          <a:noFill/>
        </p:spPr>
        <p:txBody>
          <a:bodyPr wrap="square" anchor="t">
            <a:spAutoFit/>
          </a:bodyPr>
          <a:lstStyle/>
          <a:p>
            <a:pPr algn="l"/>
            <a:r>
              <a:rPr sz="1000" b="0">
                <a:solidFill>
                  <a:srgbClr val="6E665B"/>
                </a:solidFill>
                <a:latin typeface="Segoe UI"/>
              </a:rPr>
              <a:t>ANISKWELA  ·  Axon Enjin</a:t>
            </a:r>
          </a:p>
        </p:txBody>
      </p:sp>
      <p:sp>
        <p:nvSpPr>
          <p:cNvPr id="11" name="TextBox 10"/>
          <p:cNvSpPr txBox="1"/>
          <p:nvPr/>
        </p:nvSpPr>
        <p:spPr>
          <a:xfrm>
            <a:off x="9601200" y="6446520"/>
            <a:ext cx="2103120" cy="320040"/>
          </a:xfrm>
          <a:prstGeom prst="rect">
            <a:avLst/>
          </a:prstGeom>
          <a:noFill/>
        </p:spPr>
        <p:txBody>
          <a:bodyPr wrap="square" anchor="t">
            <a:spAutoFit/>
          </a:bodyPr>
          <a:lstStyle/>
          <a:p>
            <a:pPr algn="r"/>
            <a:r>
              <a:t>Grant partner deck  ·  10/11</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BF8F2"/>
        </a:solidFill>
        <a:effectLst/>
      </p:bgPr>
    </p:bg>
    <p:spTree>
      <p:nvGrpSpPr>
        <p:cNvPr id="1" name=""/>
        <p:cNvGrpSpPr/>
        <p:nvPr/>
      </p:nvGrpSpPr>
      <p:grpSpPr>
        <a:xfrm>
          <a:off x="0" y="0"/>
          <a:ext cx="0" cy="0"/>
          <a:chOff x="0" y="0"/>
          <a:chExt cx="0" cy="0"/>
        </a:xfrm>
      </p:grpSpPr>
      <p:sp>
        <p:nvSpPr>
          <p:cNvPr id="2" name="TextBox 1"/>
          <p:cNvSpPr txBox="1"/>
          <p:nvPr/>
        </p:nvSpPr>
        <p:spPr>
          <a:xfrm>
            <a:off x="685800" y="502920"/>
            <a:ext cx="3657600" cy="320040"/>
          </a:xfrm>
          <a:prstGeom prst="rect">
            <a:avLst/>
          </a:prstGeom>
          <a:noFill/>
        </p:spPr>
        <p:txBody>
          <a:bodyPr wrap="square" anchor="t">
            <a:spAutoFit/>
          </a:bodyPr>
          <a:lstStyle/>
          <a:p>
            <a:pPr algn="l"/>
            <a:r>
              <a:rPr sz="1100" b="1">
                <a:solidFill>
                  <a:srgbClr val="3F8E5B"/>
                </a:solidFill>
                <a:latin typeface="Segoe UI"/>
              </a:rPr>
              <a:t>NEXT STEP</a:t>
            </a:r>
          </a:p>
        </p:txBody>
      </p:sp>
      <p:sp>
        <p:nvSpPr>
          <p:cNvPr id="3" name="TextBox 2"/>
          <p:cNvSpPr txBox="1"/>
          <p:nvPr/>
        </p:nvSpPr>
        <p:spPr>
          <a:xfrm>
            <a:off x="685800" y="868680"/>
            <a:ext cx="10515600" cy="822960"/>
          </a:xfrm>
          <a:prstGeom prst="rect">
            <a:avLst/>
          </a:prstGeom>
          <a:noFill/>
        </p:spPr>
        <p:txBody>
          <a:bodyPr wrap="square" anchor="t">
            <a:spAutoFit/>
          </a:bodyPr>
          <a:lstStyle/>
          <a:p>
            <a:pPr algn="l"/>
            <a:r>
              <a:rPr sz="3200" b="1">
                <a:solidFill>
                  <a:srgbClr val="6B4F3A"/>
                </a:solidFill>
                <a:latin typeface="Segoe UI"/>
              </a:rPr>
              <a:t>Help us pilot with real farmers.</a:t>
            </a:r>
          </a:p>
        </p:txBody>
      </p:sp>
      <p:sp>
        <p:nvSpPr>
          <p:cNvPr id="4" name="TextBox 3"/>
          <p:cNvSpPr txBox="1"/>
          <p:nvPr/>
        </p:nvSpPr>
        <p:spPr>
          <a:xfrm>
            <a:off x="685800" y="1600200"/>
            <a:ext cx="10515600" cy="640080"/>
          </a:xfrm>
          <a:prstGeom prst="rect">
            <a:avLst/>
          </a:prstGeom>
          <a:noFill/>
        </p:spPr>
        <p:txBody>
          <a:bodyPr wrap="square" anchor="t">
            <a:spAutoFit/>
          </a:bodyPr>
          <a:lstStyle/>
          <a:p>
            <a:pPr algn="l"/>
            <a:r>
              <a:rPr sz="1700" b="0">
                <a:solidFill>
                  <a:srgbClr val="6E665B"/>
                </a:solidFill>
                <a:latin typeface="Segoe UI"/>
              </a:rPr>
              <a:t>Co-design eligibility rules. Connect ten extension teachers. Give feedback when the verifier ships.</a:t>
            </a:r>
          </a:p>
        </p:txBody>
      </p:sp>
      <p:sp>
        <p:nvSpPr>
          <p:cNvPr id="5" name="Rounded Rectangle 4"/>
          <p:cNvSpPr/>
          <p:nvPr/>
        </p:nvSpPr>
        <p:spPr>
          <a:xfrm>
            <a:off x="685800" y="2514600"/>
            <a:ext cx="3200400" cy="1508760"/>
          </a:xfrm>
          <a:prstGeom prst="roundRect">
            <a:avLst/>
          </a:prstGeom>
          <a:solidFill>
            <a:srgbClr val="FFFFFF"/>
          </a:solidFill>
          <a:ln w="25400">
            <a:solidFill>
              <a:srgbClr val="3F8E5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3600" b="1">
                <a:solidFill>
                  <a:srgbClr val="3F8E5B"/>
                </a:solidFill>
                <a:latin typeface="Segoe UI"/>
              </a:rPr>
              <a:t>50</a:t>
            </a:r>
          </a:p>
          <a:p>
            <a:pPr algn="ctr"/>
            <a:r>
              <a:rPr sz="1200">
                <a:solidFill>
                  <a:srgbClr val="6E665B"/>
                </a:solidFill>
                <a:latin typeface="Segoe UI"/>
              </a:rPr>
              <a:t>published courses
(90 days)</a:t>
            </a:r>
          </a:p>
        </p:txBody>
      </p:sp>
      <p:sp>
        <p:nvSpPr>
          <p:cNvPr id="6" name="Rounded Rectangle 5"/>
          <p:cNvSpPr/>
          <p:nvPr/>
        </p:nvSpPr>
        <p:spPr>
          <a:xfrm>
            <a:off x="4206240" y="2514600"/>
            <a:ext cx="3200400" cy="1508760"/>
          </a:xfrm>
          <a:prstGeom prst="roundRect">
            <a:avLst/>
          </a:prstGeom>
          <a:solidFill>
            <a:srgbClr val="FFFFFF"/>
          </a:solidFill>
          <a:ln w="25400">
            <a:solidFill>
              <a:srgbClr val="3F8E5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3600" b="1">
                <a:solidFill>
                  <a:srgbClr val="3F8E5B"/>
                </a:solidFill>
                <a:latin typeface="Segoe UI"/>
              </a:rPr>
              <a:t>500</a:t>
            </a:r>
          </a:p>
          <a:p>
            <a:pPr algn="ctr"/>
            <a:r>
              <a:rPr sz="1200">
                <a:solidFill>
                  <a:srgbClr val="6E665B"/>
                </a:solidFill>
                <a:latin typeface="Segoe UI"/>
              </a:rPr>
              <a:t>registered learners
(90 days)</a:t>
            </a:r>
          </a:p>
        </p:txBody>
      </p:sp>
      <p:sp>
        <p:nvSpPr>
          <p:cNvPr id="7" name="Rounded Rectangle 6"/>
          <p:cNvSpPr/>
          <p:nvPr/>
        </p:nvSpPr>
        <p:spPr>
          <a:xfrm>
            <a:off x="7726680" y="2514600"/>
            <a:ext cx="3200400" cy="1508760"/>
          </a:xfrm>
          <a:prstGeom prst="roundRect">
            <a:avLst/>
          </a:prstGeom>
          <a:solidFill>
            <a:srgbClr val="FFFFFF"/>
          </a:solidFill>
          <a:ln w="25400">
            <a:solidFill>
              <a:srgbClr val="3F8E5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3600" b="1">
                <a:solidFill>
                  <a:srgbClr val="3F8E5B"/>
                </a:solidFill>
                <a:latin typeface="Segoe UI"/>
              </a:rPr>
              <a:t>1</a:t>
            </a:r>
          </a:p>
          <a:p>
            <a:pPr algn="ctr"/>
            <a:r>
              <a:rPr sz="1200">
                <a:solidFill>
                  <a:srgbClr val="6E665B"/>
                </a:solidFill>
                <a:latin typeface="Segoe UI"/>
              </a:rPr>
              <a:t>simulated grant program
with partner audit export</a:t>
            </a:r>
          </a:p>
        </p:txBody>
      </p:sp>
      <p:sp>
        <p:nvSpPr>
          <p:cNvPr id="8" name="Rectangle 7"/>
          <p:cNvSpPr/>
          <p:nvPr/>
        </p:nvSpPr>
        <p:spPr>
          <a:xfrm>
            <a:off x="685800" y="4434840"/>
            <a:ext cx="1234440" cy="1234440"/>
          </a:xfrm>
          <a:prstGeom prst="rect">
            <a:avLst/>
          </a:prstGeom>
          <a:solidFill>
            <a:srgbClr val="FFFFFF"/>
          </a:solidFill>
          <a:ln>
            <a:solidFill>
              <a:srgbClr val="E7E0D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77240" y="4800600"/>
            <a:ext cx="1051560" cy="548640"/>
          </a:xfrm>
          <a:prstGeom prst="rect">
            <a:avLst/>
          </a:prstGeom>
          <a:noFill/>
        </p:spPr>
        <p:txBody>
          <a:bodyPr wrap="square" anchor="t">
            <a:spAutoFit/>
          </a:bodyPr>
          <a:lstStyle/>
          <a:p>
            <a:pPr algn="ctr"/>
            <a:r>
              <a:rPr sz="1400" b="1">
                <a:solidFill>
                  <a:srgbClr val="6E665B"/>
                </a:solidFill>
                <a:latin typeface="Segoe UI"/>
              </a:rPr>
              <a:t>QR</a:t>
            </a:r>
          </a:p>
        </p:txBody>
      </p:sp>
      <p:sp>
        <p:nvSpPr>
          <p:cNvPr id="10" name="TextBox 9"/>
          <p:cNvSpPr txBox="1"/>
          <p:nvPr/>
        </p:nvSpPr>
        <p:spPr>
          <a:xfrm>
            <a:off x="2106930" y="4690904"/>
            <a:ext cx="5486400" cy="615553"/>
          </a:xfrm>
          <a:prstGeom prst="rect">
            <a:avLst/>
          </a:prstGeom>
          <a:noFill/>
        </p:spPr>
        <p:txBody>
          <a:bodyPr wrap="square" anchor="t">
            <a:spAutoFit/>
          </a:bodyPr>
          <a:lstStyle/>
          <a:p>
            <a:pPr algn="l"/>
            <a:r>
              <a:rPr sz="1600" b="0" dirty="0">
                <a:solidFill>
                  <a:srgbClr val="241F1A"/>
                </a:solidFill>
                <a:latin typeface="Segoe UI"/>
              </a:rPr>
              <a:t>Try the live app</a:t>
            </a:r>
            <a:br>
              <a:rPr dirty="0"/>
            </a:br>
            <a:r>
              <a:rPr lang="en-US" dirty="0"/>
              <a:t>aniskwela.axonenjin.com</a:t>
            </a:r>
            <a:endParaRPr dirty="0"/>
          </a:p>
        </p:txBody>
      </p:sp>
      <p:sp>
        <p:nvSpPr>
          <p:cNvPr id="11" name="TextBox 10"/>
          <p:cNvSpPr txBox="1"/>
          <p:nvPr/>
        </p:nvSpPr>
        <p:spPr>
          <a:xfrm>
            <a:off x="685800" y="5806440"/>
            <a:ext cx="10058400" cy="307777"/>
          </a:xfrm>
          <a:prstGeom prst="rect">
            <a:avLst/>
          </a:prstGeom>
          <a:noFill/>
        </p:spPr>
        <p:txBody>
          <a:bodyPr wrap="square" anchor="t">
            <a:spAutoFit/>
          </a:bodyPr>
          <a:lstStyle/>
          <a:p>
            <a:r>
              <a:rPr sz="1400" b="1" dirty="0">
                <a:solidFill>
                  <a:srgbClr val="6B4F3A"/>
                </a:solidFill>
                <a:latin typeface="Segoe UI"/>
              </a:rPr>
              <a:t>Axon </a:t>
            </a:r>
            <a:r>
              <a:rPr sz="1400" b="1" dirty="0" err="1">
                <a:solidFill>
                  <a:srgbClr val="6B4F3A"/>
                </a:solidFill>
                <a:latin typeface="Segoe UI"/>
              </a:rPr>
              <a:t>Enjin</a:t>
            </a:r>
            <a:r>
              <a:rPr sz="1400" b="1" dirty="0">
                <a:solidFill>
                  <a:srgbClr val="6B4F3A"/>
                </a:solidFill>
                <a:latin typeface="Segoe UI"/>
              </a:rPr>
              <a:t>  ·  Dela Torre  ·  Sales Jr.  ·  Tiu</a:t>
            </a:r>
            <a:r>
              <a:rPr lang="en-PH" sz="1400" b="1" dirty="0">
                <a:solidFill>
                  <a:srgbClr val="6B4F3A"/>
                </a:solidFill>
                <a:latin typeface="Segoe UI"/>
              </a:rPr>
              <a:t> ·  </a:t>
            </a:r>
            <a:r>
              <a:rPr lang="en-PH" sz="1400" b="1" dirty="0" err="1">
                <a:solidFill>
                  <a:srgbClr val="6B4F3A"/>
                </a:solidFill>
                <a:latin typeface="Segoe UI"/>
              </a:rPr>
              <a:t>Berongoy</a:t>
            </a:r>
            <a:endParaRPr sz="1400" b="1" dirty="0">
              <a:solidFill>
                <a:srgbClr val="6B4F3A"/>
              </a:solidFill>
              <a:latin typeface="Segoe UI"/>
            </a:endParaRPr>
          </a:p>
        </p:txBody>
      </p:sp>
      <p:sp>
        <p:nvSpPr>
          <p:cNvPr id="12" name="TextBox 11"/>
          <p:cNvSpPr txBox="1"/>
          <p:nvPr/>
        </p:nvSpPr>
        <p:spPr>
          <a:xfrm>
            <a:off x="548640" y="6446520"/>
            <a:ext cx="4572000" cy="320040"/>
          </a:xfrm>
          <a:prstGeom prst="rect">
            <a:avLst/>
          </a:prstGeom>
          <a:noFill/>
        </p:spPr>
        <p:txBody>
          <a:bodyPr wrap="square" anchor="t">
            <a:spAutoFit/>
          </a:bodyPr>
          <a:lstStyle/>
          <a:p>
            <a:pPr algn="l"/>
            <a:r>
              <a:rPr sz="1000" b="0">
                <a:solidFill>
                  <a:srgbClr val="6E665B"/>
                </a:solidFill>
                <a:latin typeface="Segoe UI"/>
              </a:rPr>
              <a:t>ANISKWELA  ·  Axon Enjin</a:t>
            </a:r>
          </a:p>
        </p:txBody>
      </p:sp>
      <p:sp>
        <p:nvSpPr>
          <p:cNvPr id="13" name="TextBox 12"/>
          <p:cNvSpPr txBox="1"/>
          <p:nvPr/>
        </p:nvSpPr>
        <p:spPr>
          <a:xfrm>
            <a:off x="9601200" y="6446520"/>
            <a:ext cx="2103120" cy="320040"/>
          </a:xfrm>
          <a:prstGeom prst="rect">
            <a:avLst/>
          </a:prstGeom>
          <a:noFill/>
        </p:spPr>
        <p:txBody>
          <a:bodyPr wrap="square" anchor="t">
            <a:spAutoFit/>
          </a:bodyPr>
          <a:lstStyle/>
          <a:p>
            <a:pPr algn="r"/>
            <a:r>
              <a:t>Grant partner deck  ·  11/11</a:t>
            </a:r>
          </a:p>
        </p:txBody>
      </p:sp>
      <p:pic>
        <p:nvPicPr>
          <p:cNvPr id="15" name="Picture 14">
            <a:extLst>
              <a:ext uri="{FF2B5EF4-FFF2-40B4-BE49-F238E27FC236}">
                <a16:creationId xmlns:a16="http://schemas.microsoft.com/office/drawing/2014/main" id="{244CF708-7ACE-A102-8C8F-FFA8652E4744}"/>
              </a:ext>
            </a:extLst>
          </p:cNvPr>
          <p:cNvPicPr>
            <a:picLocks noChangeAspect="1"/>
          </p:cNvPicPr>
          <p:nvPr/>
        </p:nvPicPr>
        <p:blipFill>
          <a:blip r:embed="rId3"/>
          <a:stretch>
            <a:fillRect/>
          </a:stretch>
        </p:blipFill>
        <p:spPr>
          <a:xfrm>
            <a:off x="590550" y="4290060"/>
            <a:ext cx="1424940" cy="142494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23</TotalTime>
  <Words>2921</Words>
  <Application>Microsoft Office PowerPoint</Application>
  <PresentationFormat>Widescreen</PresentationFormat>
  <Paragraphs>263</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Carlos Jerico Dela Torre</cp:lastModifiedBy>
  <cp:revision>28</cp:revision>
  <dcterms:created xsi:type="dcterms:W3CDTF">2013-01-27T09:14:16Z</dcterms:created>
  <dcterms:modified xsi:type="dcterms:W3CDTF">2026-06-26T10:20:39Z</dcterms:modified>
  <cp:category/>
</cp:coreProperties>
</file>